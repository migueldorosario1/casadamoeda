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milhões / ano</c:v>
                </c:pt>
              </c:strCache>
            </c:strRef>
          </c:tx>
          <c:spPr>
            <a:solidFill>
              <a:srgbClr val="1454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43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Mercado mundial de selos
fiscais e rastreio (2016)*</c:v>
                  </c:pt>
                  <c:pt idx="1">
                    <c:v>Operação brasileira
Sicobe + Scorpios (2016)</c:v>
                  </c:pt>
                  <c:pt idx="2">
                    <c:v>Mercado mundial
projetado (2030)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1300</c:v>
                </c:pt>
                <c:pt idx="1">
                  <c:v>473</c:v>
                </c:pt>
                <c:pt idx="2">
                  <c:v>4156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C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"/>
        </c:scaling>
        <c:delete val="0"/>
        <c:axPos val="b"/>
        <c:majorGridlines>
          <c:spPr>
            <a:ln w="12700" cap="flat">
              <a:solidFill>
                <a:srgbClr val="E4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bilhões, conversão aproximada)</c:v>
                </c:pt>
              </c:strCache>
            </c:strRef>
          </c:tx>
          <c:spPr>
            <a:solidFill>
              <a:srgbClr val="14543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54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54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543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2F2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Bundesdruckerei (2024)</c:v>
                  </c:pt>
                  <c:pt idx="1">
                    <c:v>IN Groupe (2020)</c:v>
                  </c:pt>
                  <c:pt idx="2">
                    <c:v>KOMSCO (2025)</c:v>
                  </c:pt>
                  <c:pt idx="3">
                    <c:v>CMB — Sicobe+Scorpios (2016)</c:v>
                  </c:pt>
                  <c:pt idx="4">
                    <c:v>CMB — certificação hoje (2025)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2.7</c:v>
                </c:pt>
                <c:pt idx="2">
                  <c:v>2.5</c:v>
                </c:pt>
                <c:pt idx="3">
                  <c:v>1.65</c:v>
                </c:pt>
                <c:pt idx="4">
                  <c:v>0.16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1" i="0" strike="noStrike" sz="1300" u="none">
                  <a:solidFill>
                    <a:srgbClr val="1C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12700" cap="flat">
              <a:solidFill>
                <a:srgbClr val="E4EA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image" Target="../media/image-20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03120"/>
            <a:ext cx="6766560" cy="6766560"/>
          </a:xfrm>
          <a:prstGeom prst="ellipse">
            <a:avLst/>
          </a:prstGeom>
          <a:solidFill>
            <a:srgbClr val="14543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-1188720"/>
            <a:ext cx="4937760" cy="493776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-45720"/>
            <a:ext cx="2651760" cy="2651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deck/icons/stamp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7898" y="643738"/>
            <a:ext cx="1272845" cy="12728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ESTRATÉGICA  ·  JULHO DE 2026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Casa da Moeda como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âncora pública de confiança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13232" y="39776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D9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Brasil deve ampliar seus investimentos em certificação — e como fazê-lo com método, evidência e retorno.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13232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de pesquisa em três etapas  ·  20 países  ·  40 empresas  ·  6 tipos de certificação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projeto de etiqueta.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infraestrutura de confiança.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da Moeda deve liderar um </a:t>
            </a:r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nacional, aberto e multifornecedor</a:t>
            </a:r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certificação de lacres eletrônicos, identidades físico-digitais e eventos de cadeia de custódia — o </a:t>
            </a:r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CLEC-CMB</a:t>
            </a:r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atuando como âncora pública de confiança, personalização segura e registro.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477316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8" name="Image 0" descr="/home/claude/deck/icons/stam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4920569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47365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Lacre eletrônico certificado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77240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dispositivo físico: evidência de violação + RFID/NFC, fornecido por qualquer fabricante aprovado em ensaio.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1688" y="45720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477316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3" name="Image 1" descr="/home/claude/deck/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689" y="4920569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47365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digital de custódia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90288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 que liga lacre, carga, documentos, operadores e eventos — emitido e guardado pela CMB.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74736" y="45720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03336" y="4773168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8" name="Image 2" descr="/home/claude/deck/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37" y="4920569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89136" y="47365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eletrônico ICP-Brasil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03336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carimbo digital da pessoa jurídica sobre documentos e eventos (marco aprovado pelo ITI em 2024).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construiu, liderou — e desligou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143000" y="2331720"/>
            <a:ext cx="0" cy="3931920"/>
          </a:xfrm>
          <a:prstGeom prst="line">
            <a:avLst/>
          </a:prstGeom>
          <a:noFill/>
          <a:ln w="31750">
            <a:solidFill>
              <a:srgbClr val="D8E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2185416"/>
            <a:ext cx="256032" cy="256032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103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2007–08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71800" y="210312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Nascem Scorpios e Sicobe  —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11.488 e MP 436: selo rastreável e contagem em tempo real de toda a produção de bebidas.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14984" y="3044952"/>
            <a:ext cx="256032" cy="256032"/>
          </a:xfrm>
          <a:prstGeom prst="ellipse">
            <a:avLst/>
          </a:prstGeom>
          <a:solidFill>
            <a:srgbClr val="0B3D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962656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71800" y="2962656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Brasil-ID  —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Convênio ICMS 12/2013: RFID em padrão único e aberto para cargas e mercadorias.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14984" y="3904488"/>
            <a:ext cx="256032" cy="256032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82219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3822192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R$ 1,65 bi / ano  —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Sicobe + Scorpios respondem por mais de 75% do negócio da CMB.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14984" y="4764024"/>
            <a:ext cx="256032" cy="256032"/>
          </a:xfrm>
          <a:prstGeom prst="ellipse">
            <a:avLst/>
          </a:prstGeom>
          <a:solidFill>
            <a:srgbClr val="8C2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46817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Out/2016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468172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desligamento  —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declaratório da Receita desobriga o Sicobe. A receita desaba.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14984" y="5623560"/>
            <a:ext cx="256032" cy="256032"/>
          </a:xfrm>
          <a:prstGeom prst="ellipse">
            <a:avLst/>
          </a:prstGeom>
          <a:solidFill>
            <a:srgbClr val="8C2F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554126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1800" y="5541264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operacional  —  </a:t>
            </a:r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CMB: – R$ 78 milhões na operação. O lucro (R$ 46 mi) vem de aplicações financeiras.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DA DECISÃO DE 2016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conta, dez anos depois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38728" cy="2331720"/>
          </a:xfrm>
          <a:prstGeom prst="roundRect">
            <a:avLst>
              <a:gd name="adj" fmla="val 4706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R$ 1,65 bi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anual de certificação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CMB em 2016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1688" y="2194560"/>
            <a:ext cx="3538728" cy="2331720"/>
          </a:xfrm>
          <a:prstGeom prst="roundRect">
            <a:avLst>
              <a:gd name="adj" fmla="val 4706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51460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R$ 156,9 mi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36008" y="3520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restou: Scorpios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74736" y="2194560"/>
            <a:ext cx="3538728" cy="2331720"/>
          </a:xfrm>
          <a:prstGeom prst="roundRect">
            <a:avLst>
              <a:gd name="adj" fmla="val 4706"/>
            </a:avLst>
          </a:prstGeom>
          <a:solidFill>
            <a:srgbClr val="F6E9E9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514600"/>
            <a:ext cx="3538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R$ 78 mi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49056" y="3520440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operacional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CMB em 2025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B3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5148072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0" descr="/home/claude/deck/icons/char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5373929"/>
            <a:ext cx="416966" cy="41696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057400" y="50749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anual perdida — cerca de R$ 1,5 bilhão nominais — equivale a </a:t>
            </a:r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vezes o déficit operacional atual</a:t>
            </a:r>
            <a:pPr indent="0" marL="0">
              <a:lnSpc>
                <a:spcPts val="2300"/>
              </a:lnSpc>
              <a:buNone/>
            </a:pPr>
            <a:r>
              <a:rPr lang="en-US" sz="17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Não houve perda de capacidade nem de monopólio legal. Houve perda de mandato.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 DE MERCADO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não está atrasado.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liderava.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4688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251460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5EED6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27432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1/4 a 1/3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909560" y="37033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mercado mundial de selos fiscais estava na operação brasileira de 2016 — possivelmente a maior operação isolada do planeta.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35240" y="54864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Estimativas de ordem de grandeza (IndustryARC, CAGR 8,7%; conversão ~R$ 3,49/US$). O valor estava no sistema de contagem em linha, não no adesivo.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INSTALADA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importa ainda está de pé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40487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deck/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5522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Monopólios legais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0815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cigarro, selos de bebidas, passaporte, cédulas e moedas.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61688" y="214884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40487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/home/claude/deck/icons/indust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121" y="25522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industrial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0815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de segurança e personalização; ~19 milhões de selos Inmetro em 2025.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74736" y="214884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0768" y="240487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/home/claude/deck/icons/stam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169" y="25522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34856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Scorpios ativo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30768" y="308152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R$ 156,9 milhões de receita em 2025 — o sistema nunca parou.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55371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/home/claude/deck/icons/micr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7011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Ceitec reativada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11.478/2023 + R$ 220 mi do FNDCT. O chip soberano está vivo.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61688" y="429768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E9F0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55371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6" name="Image 4" descr="/home/claude/deck/icons/ce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121" y="47011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1808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 ICP-Brasil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17720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CMB já foi Autoridade Certificadora de 1º nível (cadeias expiradas).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74736" y="4297680"/>
            <a:ext cx="3538728" cy="1920240"/>
          </a:xfrm>
          <a:prstGeom prst="roundRect">
            <a:avLst>
              <a:gd name="adj" fmla="val 4762"/>
            </a:avLst>
          </a:prstGeom>
          <a:solidFill>
            <a:srgbClr val="F5EED6"/>
          </a:solidFill>
          <a:ln/>
        </p:spPr>
      </p:sp>
      <p:sp>
        <p:nvSpPr>
          <p:cNvPr id="30" name="Shape 23"/>
          <p:cNvSpPr/>
          <p:nvPr/>
        </p:nvSpPr>
        <p:spPr>
          <a:xfrm>
            <a:off x="8430768" y="4553712"/>
            <a:ext cx="566928" cy="566928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31" name="Image 5" descr="/home/claude/deck/icons/fla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8169" y="47011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34856" y="4572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declarada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30768" y="5230368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2025–2029: missão de confiança, autenticidade e rastreabilidade.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janela de 18 meses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037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219456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europeu do Passaporte Digital de Produto entra em operação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535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 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294436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Carteiras de identidade digital obrigatórias nos 27 países da UE (eIDAS 2)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3694176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obrigatoriedade da rastreabilidade digital do ouro no Brasil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53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 2027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4443984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Passaporte de bateria obrigatório na UE — primeiro DPP com força de lei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029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2027–30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5193792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se estende a têxteis, pneus, alumínio, eletrônicos e construção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5EED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035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exportador brasileiro à UE precisará de identidade digital de produto. Alguém vai emiti-la. A pergunta é se será uma instituição brasileira.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JÁ VIROU LEI EM CONSTRUÇÃO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 3.025/2023: o Congresso já decidiu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na Câmara em 22 de abril de 2026 — segue ao Senado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deck/icons/stamp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2447666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0428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 física e digital do ouro, com certificação operada exclusivamente pela Casa da Moeda do Brasil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218688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1" descr="/home/claude/deck/icons/gavel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3380354"/>
            <a:ext cx="298460" cy="298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36976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presunção de boa-fé e da nota em papel: NF-e obrigatória + Guia de Transporte e Custódia (ANM)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0080" y="4151376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/home/claude/deck/icons/coins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4313042"/>
            <a:ext cx="298460" cy="298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4169664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venda apenas a instituições financeiras autorizadas pelo Banco Central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640080" y="5084064"/>
            <a:ext cx="621792" cy="621792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3" descr="/home/claude/deck/icons/chec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5245730"/>
            <a:ext cx="298460" cy="298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102352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previstas em lei para custear o sistema — receita ancorada em lei, não em ato administrativo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548640" y="60350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18" name="Text 12"/>
          <p:cNvSpPr/>
          <p:nvPr/>
        </p:nvSpPr>
        <p:spPr>
          <a:xfrm>
            <a:off x="822960" y="6080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este projeto propõe é generalizar, com método, o que o Congresso já reconheceu para o ouro.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ESPAÇO VAZIO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mundo construiu. A América Latina, não.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nacionais de rastreio de carga por lacre eletrônico: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457200" cy="45720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6" name="Image 0" descr="/home/claude/deck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5877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4871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China–Hong Kong 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Single E-lock Scheme (2016)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94360" y="3182112"/>
            <a:ext cx="457200" cy="45720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9" name="Image 1" descr="/home/claude/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0098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África Oriental 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RECTS — Quênia, Uganda, Ruanda, RDC (2017)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94360" y="3895344"/>
            <a:ext cx="457200" cy="45720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2" name="Image 2" descr="/home/claude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1421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9136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Eurasiática 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Tratado de lacres de navegação (2022)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94360" y="4608576"/>
            <a:ext cx="457200" cy="45720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5" name="Image 3" descr="/home/claude/deck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7274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6268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Índia 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Lacres RFID em contêineres de exportação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594360" y="5321808"/>
            <a:ext cx="457200" cy="45720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8" name="Image 4" descr="/home/claude/deck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44068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34009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Moçambique · Tailândia · Uzbequistão  </a:t>
            </a:r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Sistemas nacionais próprios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7589520" y="20116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F5EED6"/>
          </a:solidFill>
          <a:ln/>
        </p:spPr>
      </p:sp>
      <p:sp>
        <p:nvSpPr>
          <p:cNvPr id="21" name="Shape 14"/>
          <p:cNvSpPr/>
          <p:nvPr/>
        </p:nvSpPr>
        <p:spPr>
          <a:xfrm>
            <a:off x="9098280" y="2331720"/>
            <a:ext cx="1005840" cy="10058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2" name="Image 5" descr="/home/claude/deck/icons/map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9798" y="2593238"/>
            <a:ext cx="482803" cy="48280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89520" y="35204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600" dirty="0"/>
          </a:p>
        </p:txBody>
      </p:sp>
      <p:sp>
        <p:nvSpPr>
          <p:cNvPr id="24" name="Text 16"/>
          <p:cNvSpPr/>
          <p:nvPr/>
        </p:nvSpPr>
        <p:spPr>
          <a:xfrm>
            <a:off x="7863840" y="43434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equivalentes na América Latina. A região tem os corredores, os documentos eletrônicos e o OEA — falta a camada de lacre certificado. O Brasil pode ser a âncora.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INTERNACIONAL ·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China–Hong Kong: a aduana acredita,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fornece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 →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liberação nos postos de fronteira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93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liberação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(2012 → 2026)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74736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9F0EC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03336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disponíveis; 80% da carga intermodal ar-terra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0B3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257800"/>
            <a:ext cx="868680" cy="8686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0" descr="/home/claude/deck/icons/lo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5483657"/>
            <a:ext cx="416966" cy="41696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521208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exato do CLEC-CMB: 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aduanas acreditam o lacre e o GPS; qualquer fornecedor participa; a adesão é voluntária. Um único lacre, monitoramento separado.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INTERNACIONAL ·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África Oriental: plataforma pública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substituiu 9 fornecedores privados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E9F0E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US$ 4,4 mi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total: 3 países,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12.707 km de corredor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5EED6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 → 1,5 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90288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trânsito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Mombaça–Kampala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74736" y="2606040"/>
            <a:ext cx="3538728" cy="2103120"/>
          </a:xfrm>
          <a:prstGeom prst="roundRect">
            <a:avLst>
              <a:gd name="adj" fmla="val 5217"/>
            </a:avLst>
          </a:prstGeom>
          <a:solidFill>
            <a:srgbClr val="F6E9E9"/>
          </a:solidFill>
          <a:ln/>
        </p:spPr>
      </p:sp>
      <p:sp>
        <p:nvSpPr>
          <p:cNvPr id="11" name="Text 9"/>
          <p:cNvSpPr/>
          <p:nvPr/>
        </p:nvSpPr>
        <p:spPr>
          <a:xfrm>
            <a:off x="8174736" y="2834640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US$ 1.200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03336" y="3749040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viagem: o que os 9 operadores privados cobravam antes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9F0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257800"/>
            <a:ext cx="868680" cy="86868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5" name="Image 0" descr="/home/claude/deck/icons/tru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5483657"/>
            <a:ext cx="416966" cy="41696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65960" y="5138928"/>
            <a:ext cx="9418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da "reserva de mercado", invertido: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o arranjo privado fragmentado — sem supervisão central e com desvio documentado — que saía caro e era capturável. Hoje o sistema é gratuito ao transportador; desvio de carga caiu 76%.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INTERNACIONAL ·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7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Eurasiática: o modelo para o Mercosul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9F0E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deck/icons/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5200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04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 internacional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9535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 pelos chefes de Estado em 19/04/2022; em vigor desde abril de 2023 — irreversível por canetada.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EED6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37744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1" name="Image 1" descr="/home/claude/deck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5200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404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uniformes de lacre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95351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Fixados pelo Conselho do bloco, com participação do setor privado — sem esperar por uma norma ISO.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5EED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16" name="Image 2" descr="/home/claude/deck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48604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70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nacionais autorizados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77240" y="49194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país (Rússia, Belarus, Cazaquistão, Armênia, Quirguistão), com acordo de interação entre eles.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9F0E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34340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21" name="Image 3" descr="/home/claude/deck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448604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708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faseada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49194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etapas em ~18 meses, começando por álcool, tabaco e bens de risco. Transição de 3 anos.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"operador nacional autorizado russo" por "Casa da Moeda do Brasil" — e tem-se o CLEC-CMB em escala regional.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INTERNACIONAL ·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partiram de onde a CMB está hoje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221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KOMSCO · Coreia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04672" y="262432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Cédulas caíram de 2 bi para 600 mi de notas. Diversificou: mobile ID, blockchain, IA.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51960" y="23134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6052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receita fora da moeda; recorde de ₩ 639,5 bi em 2025 (+26%)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2219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Bundesdruckerei · Alemanha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73952" y="262432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gráfica a "empresa federal de tecnologia" sob a bandeira da soberania digital.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21240" y="23134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829800" y="2971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peso das cédulas na receita de € 1,11 bi; lucro ×7 em 4 anos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4370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Groupe · França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04672" y="477316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 a 500 funcionários em 2009; refundou-se e comprou a IDEMIA Smart Identity (~€ 1 bi).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4462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160520" y="5120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margem líquida em 2024; faturamento quase triplicado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43708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 · Filipinas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73952" y="4773168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estatal opera o selo fiscal ponta a ponta: 31,2 bi de selos desde 2014.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21240" y="446227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829800" y="5120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lucro devolvido ao Tesouro; estatal autossustentável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EM UM GRÁFICO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Estatais de moeda: receita anual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214884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2240280"/>
            <a:ext cx="3383280" cy="3931920"/>
          </a:xfrm>
          <a:prstGeom prst="roundRect">
            <a:avLst>
              <a:gd name="adj" fmla="val 3243"/>
            </a:avLst>
          </a:prstGeom>
          <a:solidFill>
            <a:srgbClr val="E9F0EC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déficit não é destino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458200" y="32918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CMB já esteve entre as maiores do mundo em certificação. O que separa a barra dourada da vermelha não é tecnologia nem mercado — é uma decisão administrativa de 2016.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58200" y="5623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Conversões aproximadas; valores originais em €, ₩ e R$.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DE NÃO AGIR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Terceirizar a confiança não é hipótese.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aconteceu — aqui.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3538728" cy="2377440"/>
          </a:xfrm>
          <a:prstGeom prst="roundRect">
            <a:avLst>
              <a:gd name="adj" fmla="val 4615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81 mi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condenação criminal da SICPA na Suíça (2023) por falhas que permitiram suborno de agentes públicos no Brasil, Colômbia e Venezuela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1688" y="2788920"/>
            <a:ext cx="3538728" cy="2377440"/>
          </a:xfrm>
          <a:prstGeom prst="roundRect">
            <a:avLst>
              <a:gd name="adj" fmla="val 4615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1688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11a 6m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36008" y="384048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 do agente da SICPA no Brasil (2019), por conduta ligada ao contrato com a Receita Federal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74736" y="2788920"/>
            <a:ext cx="3538728" cy="2377440"/>
          </a:xfrm>
          <a:prstGeom prst="roundRect">
            <a:avLst>
              <a:gd name="adj" fmla="val 4615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3017520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135 mi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49056" y="3840480"/>
            <a:ext cx="29900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de leniência com autoridades brasileiras (2021); Operação Vícios cumpriu mandados na Receita, na CMB e na SICPA Brasil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600" i="1" dirty="0">
                <a:solidFill>
                  <a:srgbClr val="EC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SICPA era a fornecedora tecnológica embarcada no Sicobe e no Scorpios — dentro da própria Casa da Moeda. Internalizar a capacidade é controle de risco de integridade, não apenas política industrial.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ISSO, LÁ FORA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setor está sendo comprado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30352" cy="530352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5" name="Image 0" descr="/home/claude/deck/icons/coi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252" y="2241012"/>
            <a:ext cx="254569" cy="2545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2140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NXT (EUA)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OpSec, TruTag e a Autenticação da De La Rue (£ 300 mi). Meta: US$ 3 bi até 2028.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" y="2944368"/>
            <a:ext cx="530352" cy="530352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8" name="Image 1" descr="/home/claude/deck/icons/coin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2" y="3082260"/>
            <a:ext cx="254569" cy="2545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962656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Holdings (EUA)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a De La Rue — impressora de cédulas de 140 países — e a deslistou em jul/2025.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594360" y="3785616"/>
            <a:ext cx="530352" cy="530352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1" name="Image 2" descr="/home/claude/deck/icons/coin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52" y="3923508"/>
            <a:ext cx="254569" cy="2545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803904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 (EUA)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fatiou a IDEMIA em três e revendeu: Smart Identity → estatal francesa; Public Security → Amadeus (€ 1,2 bi).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594360" y="4626864"/>
            <a:ext cx="530352" cy="530352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4" name="Image 3" descr="/home/claude/deck/icons/coin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4764756"/>
            <a:ext cx="254569" cy="25456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45152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Dentsu (Japão)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fornecedora única do repositório de rastreio de tabaco de toda a União Europeia.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594360" y="5468112"/>
            <a:ext cx="530352" cy="530352"/>
          </a:xfrm>
          <a:prstGeom prst="ellipse">
            <a:avLst/>
          </a:prstGeom>
          <a:solidFill>
            <a:srgbClr val="8C2F2F"/>
          </a:solidFill>
          <a:ln/>
        </p:spPr>
      </p:sp>
      <p:pic>
        <p:nvPicPr>
          <p:cNvPr id="17" name="Image 4" descr="/home/claude/deck/icons/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52" y="5606004"/>
            <a:ext cx="254569" cy="25456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486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Dahua (China)  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5A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no monitoramento de cargas no Brasil — banida nos EUA em 2022 por segurança nacional.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França respondeu comprando de volta. O Reino Unido, repatriando o passaporte. E o Brasil?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DA SOLUÇÃO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CLEC-CMB: cada ente no seu papel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5EED6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386584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</p:sp>
      <p:pic>
        <p:nvPicPr>
          <p:cNvPr id="6" name="Image 0" descr="/home/claude/deck/icons/lan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25292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da Moeda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86384" y="3017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 do esquema: especificação, marca de conformidade, identidades, registro, revogação e criptografia.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14884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E9F0EC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2386584"/>
            <a:ext cx="548640" cy="54864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1" name="Image 1" descr="/home/claude/deck/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252923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Inmetro / Cgcre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9432" y="3017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Acreditam organismos e laboratórios independentes (ISO/IEC 17065 e 17025) que avaliam os produtos.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74736" y="214884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E9F0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386584"/>
            <a:ext cx="548640" cy="54864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16" name="Image 2" descr="/home/claude/deck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5292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9136" y="2423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0175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 leitores e interrogadores. A certificação CMB não substitui a homologação.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E9F0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86384" y="4489704"/>
            <a:ext cx="548640" cy="54864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21" name="Image 3" descr="/home/claude/deck/icons/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46323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/ ICP-Brasil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86384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documental: selo eletrônico de pessoa jurídica sobre documentos e eventos.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61688" y="425196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E9F0E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489704"/>
            <a:ext cx="548640" cy="548640"/>
          </a:xfrm>
          <a:prstGeom prst="ellipse">
            <a:avLst/>
          </a:prstGeom>
          <a:solidFill>
            <a:srgbClr val="14543F"/>
          </a:solidFill>
          <a:ln/>
        </p:spPr>
      </p:sp>
      <p:pic>
        <p:nvPicPr>
          <p:cNvPr id="26" name="Image 4" descr="/home/claude/deck/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63235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Órgãos setoriais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99432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RFB, Confaz, ANTT, ANM, portos: definem eventos, inspeções e efeitos jurídicos da violação.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74736" y="425196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0B3D2E"/>
          </a:solidFill>
          <a:ln/>
        </p:spPr>
      </p:sp>
      <p:sp>
        <p:nvSpPr>
          <p:cNvPr id="30" name="Text 23"/>
          <p:cNvSpPr/>
          <p:nvPr/>
        </p:nvSpPr>
        <p:spPr>
          <a:xfrm>
            <a:off x="84124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Multifornecedor por regra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8412480" y="4937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C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fabricante participa mediante ensaio independente — sem exclusividade da Fractal ou de quem quer que seja.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DIFÍCEIS, RESPOSTAS PRONTAS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contra-argumentos, enfrentados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500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"Estatal não executa."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Bundesdruckerei: EBIT de € 238 mi. IN Groupe: margem de 24%. KOMSCO: grau A. APO: autossustentável.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1488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3500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"É reserva de mercado."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esquema é aberto e multifornecedor. No Quênia, o mercado privado fragmentado é que era caro e capturável.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CMB está no vermelho."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argumento a favor: o déficit surgiu depois de a empresa perder R$ 1,65 bi/ano. Certificação era o negócio.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C"/>
            </a:solidFill>
            <a:prstDash val="solid"/>
          </a:ln>
          <a:effectLst>
            <a:outerShdw sx="100000" sy="100000" kx="0" ky="0" algn="bl" rotWithShape="0" blurRad="76200" dist="25400" dir="5400000">
              <a:srgbClr val="C7D2CC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407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8C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CMB seria juíza e parte."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0"/>
              </a:lnSpc>
              <a:buNone/>
            </a:pPr>
            <a:r>
              <a:rPr lang="en-US" sz="13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funcional: laboratórios independentes acreditados pela Cgcre avaliam; comitê imparcial decide.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C2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Aprovação condicionada: quatro decisões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777240" cy="777240"/>
          </a:xfrm>
          <a:prstGeom prst="ellipse">
            <a:avLst/>
          </a:prstGeom>
          <a:solidFill>
            <a:srgbClr val="0B3D2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16712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21214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Instituir o grupo de trabalho  — 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elaborar o Esquema CMB de Certificação de Lacres Eletrônicos e Cadeia de Custódia.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3136392"/>
            <a:ext cx="777240" cy="777240"/>
          </a:xfrm>
          <a:prstGeom prst="ellipse">
            <a:avLst/>
          </a:prstGeom>
          <a:solidFill>
            <a:srgbClr val="0B3D2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004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31546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as parcerias  — 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com Inmetro/Cgcre, ITI, Anatel, RFB, Confaz, ANTT, ANM e autoridades portuárias.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94360" y="4169664"/>
            <a:ext cx="777240" cy="777240"/>
          </a:xfrm>
          <a:prstGeom prst="ellipse">
            <a:avLst/>
          </a:prstGeom>
          <a:solidFill>
            <a:srgbClr val="0B3D2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233672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418795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especificação aberta  — 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 de desempenho, multifornecedor — sem vinculação exclusiva a qualquer fabricante.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4360" y="5202936"/>
            <a:ext cx="777240" cy="777240"/>
          </a:xfrm>
          <a:prstGeom prst="ellipse">
            <a:avLst/>
          </a:prstGeom>
          <a:solidFill>
            <a:srgbClr val="0B3D2E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26694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45920" y="52212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piloto  —  </a:t>
            </a:r>
            <a:pPr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1C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laboratorial e operacional, com avaliação técnica e econômica independente — o ouro (PL 3.025) é o piloto real, já financiado por lei.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6E9E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6263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fase, NÃO: compulsoriedade, fonte única, exclusividade tecnológica, promessa de "tempo real" com lacre passivo, escala sem piloto.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2026 a 2030, em seis fases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2026–27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Ouro</a:t>
            </a:r>
            <a:endParaRPr lang="en-US" sz="1900" dirty="0"/>
          </a:p>
        </p:txBody>
      </p:sp>
      <p:pic>
        <p:nvPicPr>
          <p:cNvPr id="7" name="Image 0" descr="/home/claude/deck/icons/arrow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2679192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32304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32304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432304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Esquema</a:t>
            </a:r>
            <a:endParaRPr lang="en-US" sz="1900" dirty="0"/>
          </a:p>
        </p:txBody>
      </p:sp>
      <p:pic>
        <p:nvPicPr>
          <p:cNvPr id="11" name="Image 1" descr="/home/claude/deck/icons/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656" y="2679192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5968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15968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2027–28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15968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</a:t>
            </a:r>
            <a:endParaRPr lang="en-US" sz="1900" dirty="0"/>
          </a:p>
        </p:txBody>
      </p:sp>
      <p:pic>
        <p:nvPicPr>
          <p:cNvPr id="15" name="Image 2" descr="/home/claude/deck/icons/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679192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99632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199632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2028–29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99632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</a:t>
            </a:r>
            <a:endParaRPr lang="en-US" sz="1900" dirty="0"/>
          </a:p>
        </p:txBody>
      </p:sp>
      <p:pic>
        <p:nvPicPr>
          <p:cNvPr id="19" name="Image 3" descr="/home/claude/deck/icons/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679192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083296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083296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083296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Mercosul</a:t>
            </a:r>
            <a:endParaRPr lang="en-US" sz="1900" dirty="0"/>
          </a:p>
        </p:txBody>
      </p:sp>
      <p:pic>
        <p:nvPicPr>
          <p:cNvPr id="23" name="Image 4" descr="/home/claude/deck/icons/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648" y="2679192"/>
            <a:ext cx="237744" cy="23774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9966960" y="21488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4543F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966960" y="2286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966960" y="26700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1900" dirty="0"/>
          </a:p>
        </p:txBody>
      </p:sp>
      <p:sp>
        <p:nvSpPr>
          <p:cNvPr id="27" name="Text 20"/>
          <p:cNvSpPr/>
          <p:nvPr/>
        </p:nvSpPr>
        <p:spPr>
          <a:xfrm>
            <a:off x="548640" y="3703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legal → especificação aberta → prova em campo → plataforma nacional → padrão regional → serviços de confiança digital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1188720" y="4434840"/>
            <a:ext cx="9811512" cy="1600200"/>
          </a:xfrm>
          <a:prstGeom prst="roundRect">
            <a:avLst>
              <a:gd name="adj" fmla="val 6857"/>
            </a:avLst>
          </a:prstGeom>
          <a:solidFill>
            <a:srgbClr val="C9A227"/>
          </a:solidFill>
          <a:ln/>
        </p:spPr>
      </p:sp>
      <p:sp>
        <p:nvSpPr>
          <p:cNvPr id="29" name="Text 22"/>
          <p:cNvSpPr/>
          <p:nvPr/>
        </p:nvSpPr>
        <p:spPr>
          <a:xfrm>
            <a:off x="1554480" y="4617720"/>
            <a:ext cx="9079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900" b="1" i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empresa já faturou R$ 1,65 bilhão por ano fazendo exatamente isto. A tese não pede um salto no escuro — pede a retomada, com método, de uma liderança que o Brasil já exerceu."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completas: etapa1_completo.md · etapa2_completo.md · etapa3_completo.md · TESE_FINAL_CMB_certificacao.md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2026-07-17T20:07:28Z</dcterms:created>
  <dcterms:modified xsi:type="dcterms:W3CDTF">2026-07-17T20:07:28Z</dcterms:modified>
</cp:coreProperties>
</file>