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97280"/>
            <a:ext cx="1072865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  <a:latin typeface="Calibri"/>
              </a:defRPr>
            </a:pPr>
            <a:r>
              <a:t>PROPOSTA ESTRATÉGICA AO GOVERNO FEDERAL · 2026</a:t>
            </a:r>
          </a:p>
          <a:p>
            <a:pPr>
              <a:spcBef>
                <a:spcPts val="1500"/>
              </a:spcBef>
              <a:defRPr sz="3600" b="1">
                <a:solidFill>
                  <a:srgbClr val="F8FAFC"/>
                </a:solidFill>
                <a:latin typeface="Calibri"/>
              </a:defRPr>
            </a:pPr>
            <a:r>
              <a:t>A Casa da Moeda como Eixo Nacional</a:t>
            </a:r>
            <a:br/>
            <a:r>
              <a:t>de Certificação e Confiança Pública</a:t>
            </a:r>
          </a:p>
          <a:p>
            <a:pPr>
              <a:spcBef>
                <a:spcPts val="2000"/>
              </a:spcBef>
              <a:defRPr sz="1600">
                <a:solidFill>
                  <a:srgbClr val="CBD5E1"/>
                </a:solidFill>
                <a:latin typeface="Calibri"/>
              </a:defRPr>
            </a:pPr>
            <a:r>
              <a:t>Alavancando a infraestrutura secular da estatal para liderar a rastreabilidade, a identidade físico-digital e a inteligência de custódia do Brasil.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754880"/>
            <a:ext cx="3447288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892040"/>
            <a:ext cx="308152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POTENCIAL TECNOLÓGICO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</a:defRPr>
            </a:pPr>
            <a:r>
              <a:t>Expansão da capacidade industrial para novos serviços de inteligência digital.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70832" y="4754880"/>
            <a:ext cx="3447288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53712" y="4892040"/>
            <a:ext cx="308152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MANDATO LEGAL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</a:defRPr>
            </a:pPr>
            <a:r>
              <a:t>PL 3.025/2023 atribui à CMB a certificação exclusiva da rastreabilidade do ouro.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10144" y="4754880"/>
            <a:ext cx="3447288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93024" y="4892040"/>
            <a:ext cx="308152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BENCHMARK GLOBAL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</a:defRPr>
            </a:pPr>
            <a:r>
              <a:t>Estatais de moeda (KOMSCO, Bundesdruckerei) lideram a confiança digital no mundo.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VISÃO EXECUTIVA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Não é um projeto de etiqueta. É a Infraestrutura de Confiança do Estado.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1800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 i="1">
                <a:solidFill>
                  <a:srgbClr val="F8FAFC"/>
                </a:solidFill>
              </a:defRPr>
            </a:pPr>
            <a:r>
              <a:t>“A Casa da Moeda do Brasil deve liderar um esquema nacional, aberto e multifornecedor de certificação de lacres eletrônicos, identidades físico-digitais e eventos de cadeia de custódia, atuando como a Âncora Pública de Confiança do país.”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383280"/>
            <a:ext cx="344728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3383280"/>
            <a:ext cx="3447288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657600"/>
            <a:ext cx="2990088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1. Âncora de Identidade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A CMB emite, personaliza e gerencia o registro seguro de identidades digitais de produtos, lacres e mercadorias.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0832" y="3383280"/>
            <a:ext cx="344728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3383280"/>
            <a:ext cx="3447288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3657600"/>
            <a:ext cx="2990088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2. Padrão Aberto &amp; Regulado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O mercado privado fornece os lacres e leitores competitivamente. A CMB certifica a conformidade e a segurança.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10144" y="3383280"/>
            <a:ext cx="344728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10144" y="3383280"/>
            <a:ext cx="344728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38744" y="3657600"/>
            <a:ext cx="2990088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3. Soberania dos Dados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Chaves criptográficas, registros de auditoria e bases estratégicas permanecem 100% sob controle do Estado brasileiro.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TRAJETÓRIA E ESCALA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Capacidade Industrial Consagrada e o Novo Horizonte de Crescimento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3447288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299008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Experiência Operacional Massiva</a:t>
            </a:r>
          </a:p>
          <a:p>
            <a:pPr>
              <a:spcBef>
                <a:spcPts val="1500"/>
              </a:spcBef>
              <a:defRPr sz="2200" b="1">
                <a:solidFill>
                  <a:srgbClr val="2563EB"/>
                </a:solidFill>
              </a:defRPr>
            </a:pPr>
            <a:r>
              <a:t>Bilhões de Produtos</a:t>
            </a:r>
          </a:p>
          <a:p>
            <a:pPr>
              <a:spcBef>
                <a:spcPts val="1500"/>
              </a:spcBef>
              <a:defRPr sz="1200">
                <a:solidFill>
                  <a:srgbClr val="475569"/>
                </a:solidFill>
              </a:defRPr>
            </a:pPr>
            <a:r>
              <a:t>Sistemas como Sicobe e Scorpios demonstraram a capacidade única da CMB em operar a contagem e rastreamento em tempo real da indústria nacional.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70832" y="1463040"/>
            <a:ext cx="3447288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9432" y="1645920"/>
            <a:ext cx="299008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Infraestrutura de Segurança</a:t>
            </a:r>
          </a:p>
          <a:p>
            <a:pPr>
              <a:spcBef>
                <a:spcPts val="1500"/>
              </a:spcBef>
              <a:defRPr sz="2200" b="1">
                <a:solidFill>
                  <a:srgbClr val="10B981"/>
                </a:solidFill>
              </a:defRPr>
            </a:pPr>
            <a:r>
              <a:t>330 Anos de Tradição</a:t>
            </a:r>
          </a:p>
          <a:p>
            <a:pPr>
              <a:spcBef>
                <a:spcPts val="1500"/>
              </a:spcBef>
              <a:defRPr sz="1200">
                <a:solidFill>
                  <a:srgbClr val="475569"/>
                </a:solidFill>
              </a:defRPr>
            </a:pPr>
            <a:r>
              <a:t>Parque industrial fabril, salas de alta segurança, acreditação Inmetro e corpo técnico altamente especializado e de confiança do Estado.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10144" y="1463040"/>
            <a:ext cx="3447288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38744" y="1645920"/>
            <a:ext cx="299008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O Novo Horizonte Digital</a:t>
            </a:r>
          </a:p>
          <a:p>
            <a:pPr>
              <a:spcBef>
                <a:spcPts val="1500"/>
              </a:spcBef>
              <a:defRPr sz="2200" b="1">
                <a:solidFill>
                  <a:srgbClr val="D97706"/>
                </a:solidFill>
              </a:defRPr>
            </a:pPr>
            <a:r>
              <a:t>Fronteira Tecnológica</a:t>
            </a:r>
          </a:p>
          <a:p>
            <a:pPr>
              <a:spcBef>
                <a:spcPts val="1500"/>
              </a:spcBef>
              <a:defRPr sz="1200">
                <a:solidFill>
                  <a:srgbClr val="475569"/>
                </a:solidFill>
              </a:defRPr>
            </a:pPr>
            <a:r>
              <a:t>A expansão para serviços de certificação digital e inteligência de custódia reposiciona a estatal na vanguarda da economia da informação.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DIMENSIONAMENTO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O Mercado Global de Rastreabilidade e o Potencial do Brasil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4114800" cy="4846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3566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MERCADO GLOBAL</a:t>
            </a:r>
          </a:p>
          <a:p>
            <a:pPr>
              <a:spcBef>
                <a:spcPts val="500"/>
              </a:spcBef>
              <a:defRPr sz="3200" b="1">
                <a:solidFill>
                  <a:srgbClr val="F8FAFC"/>
                </a:solidFill>
              </a:defRPr>
            </a:pPr>
            <a:r>
              <a:t>US$ 2,5 Bi/ano</a:t>
            </a:r>
          </a:p>
          <a:p>
            <a:pPr>
              <a:spcBef>
                <a:spcPts val="500"/>
              </a:spcBef>
              <a:defRPr sz="1100">
                <a:solidFill>
                  <a:srgbClr val="94A3B8"/>
                </a:solidFill>
              </a:defRPr>
            </a:pPr>
            <a:r>
              <a:t>Projeção 2030: US$ 4,16 Bilhões (CAGR de 8,7%). Fonte: IndustryARC.</a:t>
            </a:r>
          </a:p>
          <a:p>
            <a:pPr>
              <a:spcBef>
                <a:spcPts val="2500"/>
              </a:spcBef>
              <a:defRPr sz="1200" b="1">
                <a:solidFill>
                  <a:srgbClr val="D97706"/>
                </a:solidFill>
              </a:defRPr>
            </a:pPr>
            <a:r>
              <a:t>POTENCIAL DO BRASIL</a:t>
            </a:r>
          </a:p>
          <a:p>
            <a:pPr>
              <a:spcBef>
                <a:spcPts val="500"/>
              </a:spcBef>
              <a:defRPr sz="3200" b="1">
                <a:solidFill>
                  <a:srgbClr val="10B981"/>
                </a:solidFill>
              </a:defRPr>
            </a:pPr>
            <a:r>
              <a:t>Até 33% Global</a:t>
            </a:r>
          </a:p>
          <a:p>
            <a:pPr>
              <a:spcBef>
                <a:spcPts val="500"/>
              </a:spcBef>
              <a:defRPr sz="1100">
                <a:solidFill>
                  <a:srgbClr val="94A3B8"/>
                </a:solidFill>
              </a:defRPr>
            </a:pPr>
            <a:r>
              <a:t>O mercado brasileiro possui escala suficiente para sustentar um ecossistema próprio de inovação tecnológica.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0" y="1463040"/>
            <a:ext cx="6339535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0" y="1737360"/>
            <a:ext cx="57908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Oportunidades de Liderança Tecnológica:</a:t>
            </a:r>
          </a:p>
          <a:p>
            <a:pPr>
              <a:spcBef>
                <a:spcPts val="1500"/>
              </a:spcBef>
              <a:defRPr sz="1300" b="1">
                <a:solidFill>
                  <a:srgbClr val="2563EB"/>
                </a:solidFill>
              </a:defRPr>
            </a:pPr>
            <a:r>
              <a:t>• O valor está no sistema de inteligência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A rastreabilidade moderna não se limita ao elemento físico, mas na auditoria de eventos e dados de custódia em tempo real.</a:t>
            </a:r>
          </a:p>
          <a:p>
            <a:pPr>
              <a:spcBef>
                <a:spcPts val="1500"/>
              </a:spcBef>
              <a:defRPr sz="1300" b="1">
                <a:solidFill>
                  <a:srgbClr val="2563EB"/>
                </a:solidFill>
              </a:defRPr>
            </a:pPr>
            <a:r>
              <a:t>• Escala Industrial Instalada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Com produção anual de dezenas de milhões de elementos de segurança (ex: Inmetro), a CMB possui vocação industrial pronta.</a:t>
            </a:r>
          </a:p>
          <a:p>
            <a:pPr>
              <a:spcBef>
                <a:spcPts val="1500"/>
              </a:spcBef>
              <a:defRPr sz="1300" b="1">
                <a:solidFill>
                  <a:srgbClr val="2563EB"/>
                </a:solidFill>
              </a:defRPr>
            </a:pPr>
            <a:r>
              <a:t>• Protagonismo Nacional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O Brasil possui demanda interna e internacional (commodities, minérios e manufaturas) para ser referência global em rastreabilidade.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SOBERANIA &amp; INTEGRIDADE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Autonomia Tecnológica e Proteção de Dados Estratégicos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1206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O Alerta da Terceirização Exclusiva</a:t>
            </a:r>
          </a:p>
          <a:p>
            <a:pPr>
              <a:spcBef>
                <a:spcPts val="1000"/>
              </a:spcBef>
              <a:defRPr sz="1200">
                <a:solidFill>
                  <a:srgbClr val="334155"/>
                </a:solidFill>
              </a:defRPr>
            </a:pPr>
            <a:r>
              <a:t>• Riscos Reputacionais e Legais: O caso SICPA na Suíça (condenação de CHF 81 milhões em 2023) reforça a vulnerabilidade de se depender de fornecedores privados internacionais monopolistas.</a:t>
            </a:r>
          </a:p>
          <a:p>
            <a:pPr>
              <a:spcBef>
                <a:spcPts val="1000"/>
              </a:spcBef>
              <a:defRPr sz="1200">
                <a:solidFill>
                  <a:srgbClr val="334155"/>
                </a:solidFill>
              </a:defRPr>
            </a:pPr>
            <a:r>
              <a:t>• Custódia Estatal das Chaves: A inteligência fiscal e os dados das cadeias produtivas nacionais devem ter a garantia de um ente estatal neutro.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463040"/>
            <a:ext cx="5242255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7649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A Consolidação por Fundos Estrangeiros</a:t>
            </a:r>
          </a:p>
          <a:p>
            <a:pPr>
              <a:spcBef>
                <a:spcPts val="1000"/>
              </a:spcBef>
              <a:defRPr sz="1200" b="1">
                <a:solidFill>
                  <a:srgbClr val="0F172A"/>
                </a:solidFill>
              </a:defRPr>
            </a:pPr>
            <a:r>
              <a:t>• Crane NXT (EUA)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Aquisição da OpSec e Divisão de Autenticação da De La Rue por £ 300 mi (2025). Meta: US$ 3 bi em rastreabilidade de governos.</a:t>
            </a:r>
          </a:p>
          <a:p>
            <a:pPr>
              <a:spcBef>
                <a:spcPts val="1000"/>
              </a:spcBef>
              <a:defRPr sz="1200" b="1">
                <a:solidFill>
                  <a:srgbClr val="0F172A"/>
                </a:solidFill>
              </a:defRPr>
            </a:pPr>
            <a:r>
              <a:t>• De La Rue (Reino Unido)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Comprada pelo fundo norte-americano Atlas Holdings, fechando capital em jul/2025.</a:t>
            </a:r>
          </a:p>
          <a:p>
            <a:pPr>
              <a:spcBef>
                <a:spcPts val="1000"/>
              </a:spcBef>
              <a:defRPr sz="1200" b="1">
                <a:solidFill>
                  <a:srgbClr val="0F172A"/>
                </a:solidFill>
              </a:defRPr>
            </a:pPr>
            <a:r>
              <a:t>• IDEMIA / Advent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Fatiada em três pelo fundo Advent. Divisão Smart Identity adquirida pela estatal francesa IN Groupe (€ 1 bi).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BENCHMARK INTERNACIONAL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Coreia do Sul (KOMSCO): A Casa da Moeda que Virou Plataforma de Confiança Digital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120640" cy="4846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KOMSCO · COREIA DO SUL (100% ESTATAL)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</a:defRPr>
            </a:pPr>
            <a:r>
              <a:t>Receita Recorde 2025:</a:t>
            </a:r>
          </a:p>
          <a:p>
            <a:pPr>
              <a:defRPr sz="3200" b="1">
                <a:solidFill>
                  <a:srgbClr val="10B981"/>
                </a:solidFill>
              </a:defRPr>
            </a:pPr>
            <a:r>
              <a:t>₩ 639,5 Bilhões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(+26% de crescimento · 4º ano consecutivo de alta · Avaliação Grau A do Governo)</a:t>
            </a:r>
          </a:p>
          <a:p>
            <a:pPr>
              <a:spcBef>
                <a:spcPts val="1500"/>
              </a:spcBef>
              <a:defRPr sz="1400" b="1">
                <a:solidFill>
                  <a:srgbClr val="D97706"/>
                </a:solidFill>
              </a:defRPr>
            </a:pPr>
            <a:r>
              <a:t>80%+ da receita vem de negócios de inovação e tecnologia digital.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463040"/>
            <a:ext cx="5242255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737360"/>
            <a:ext cx="46936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Como a KOMSCO Lidera a Inovação:</a:t>
            </a:r>
          </a:p>
          <a:p>
            <a:pPr>
              <a:spcBef>
                <a:spcPts val="1200"/>
              </a:spcBef>
              <a:defRPr sz="1300" b="1">
                <a:solidFill>
                  <a:srgbClr val="2563EB"/>
                </a:solidFill>
              </a:defRPr>
            </a:pPr>
            <a:r>
              <a:t>• Pioneirismo em eID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Desenvolveu o Mobile ID nacional e a infraestrutura de identificação digital dos cidadãos coreanos.</a:t>
            </a:r>
          </a:p>
          <a:p>
            <a:pPr>
              <a:spcBef>
                <a:spcPts val="1200"/>
              </a:spcBef>
              <a:defRPr sz="1300" b="1">
                <a:solidFill>
                  <a:srgbClr val="2563EB"/>
                </a:solidFill>
              </a:defRPr>
            </a:pPr>
            <a:r>
              <a:t>• Plataforma Blockchain Pública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Criou a 1ª blockchain pública governamental da Coreia (KOMSCO Blockchain) e marcação digital anti-deepfake.</a:t>
            </a:r>
          </a:p>
          <a:p>
            <a:pPr>
              <a:spcBef>
                <a:spcPts val="1200"/>
              </a:spcBef>
              <a:defRPr sz="1300" b="1">
                <a:solidFill>
                  <a:srgbClr val="2563EB"/>
                </a:solidFill>
              </a:defRPr>
            </a:pPr>
            <a:r>
              <a:t>• Certificação Físico-Digital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Lidera a certificação e rastreamento de ativos estratégicos (ouro) e selos de exportação da indústria.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BENCHMARK INTERNACIONAL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Alemanha (Bundesdruckerei): Soberania Digital e Liderança Tecnológica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120640" cy="4846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BUNDESDRUCKEREI · ALEMANHA (100% ESTATAL)</a:t>
            </a:r>
          </a:p>
          <a:p>
            <a:pPr>
              <a:spcBef>
                <a:spcPts val="1000"/>
              </a:spcBef>
              <a:defRPr sz="2000" b="1">
                <a:solidFill>
                  <a:srgbClr val="F8FAFC"/>
                </a:solidFill>
              </a:defRPr>
            </a:pPr>
            <a:r>
              <a:t>Faturamento (2024): € 1,11 Bilhão</a:t>
            </a:r>
            <a:br/>
            <a:r>
              <a:t>EBIT: € 238 Milhões</a:t>
            </a:r>
          </a:p>
          <a:p>
            <a:pPr>
              <a:spcBef>
                <a:spcPts val="1000"/>
              </a:spcBef>
              <a:defRPr sz="1400" b="1">
                <a:solidFill>
                  <a:srgbClr val="10B981"/>
                </a:solidFill>
              </a:defRPr>
            </a:pPr>
            <a:r>
              <a:t>Crescimento contínuo e sustentável.</a:t>
            </a:r>
          </a:p>
          <a:p>
            <a:pPr>
              <a:spcBef>
                <a:spcPts val="1500"/>
              </a:spcBef>
              <a:defRPr sz="1300">
                <a:solidFill>
                  <a:srgbClr val="CBD5E1"/>
                </a:solidFill>
              </a:defRPr>
            </a:pPr>
            <a:r>
              <a:t>92% da receita decorre de soluções de tecnologia e certificação digital soberana.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463040"/>
            <a:ext cx="5242255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737360"/>
            <a:ext cx="46936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Modelo de Atuação de Confiança Digital:</a:t>
            </a:r>
          </a:p>
          <a:p>
            <a:pPr>
              <a:spcBef>
                <a:spcPts val="1200"/>
              </a:spcBef>
              <a:defRPr sz="1300" b="1">
                <a:solidFill>
                  <a:srgbClr val="2563EB"/>
                </a:solidFill>
              </a:defRPr>
            </a:pPr>
            <a:r>
              <a:t>• D-Trust (QTSP)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Prestadora Qualificada de Serviços de Confiança no padrão europeu eIDAS 2, emitindo selos eletrônicos e certificados seguros.</a:t>
            </a:r>
          </a:p>
          <a:p>
            <a:pPr>
              <a:spcBef>
                <a:spcPts val="1200"/>
              </a:spcBef>
              <a:defRPr sz="1300" b="1">
                <a:solidFill>
                  <a:srgbClr val="2563EB"/>
                </a:solidFill>
              </a:defRPr>
            </a:pPr>
            <a:r>
              <a:t>• Genua &amp; Xecuro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Subsidiárias especializadas em alta cibersegurança para infraestruturas críticas e governamentais.</a:t>
            </a:r>
          </a:p>
          <a:p>
            <a:pPr>
              <a:spcBef>
                <a:spcPts val="1200"/>
              </a:spcBef>
              <a:defRPr sz="1300" b="1">
                <a:solidFill>
                  <a:srgbClr val="2563EB"/>
                </a:solidFill>
              </a:defRPr>
            </a:pPr>
            <a:r>
              <a:t>• Soberania Tecnológica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Assegura que a Alemanha possua controle soberano sobre a identidade digital e os dados de suas empresas.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BENCHMARK INTERNACIONAL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França (IN Groupe) e Filipinas (APO): Inovação e Proteção de Receitas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1206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IN GROUPE · FRANÇA (100% ESTATAL)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Transformação Digital: A gráfica oficial francesa converteu-se no líder europeu de identidade e confiança digital.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Aquisição Estratégica (2025): Compra da IDEMIA Smart Identity por ~€ 1 bilhão.</a:t>
            </a:r>
          </a:p>
          <a:p>
            <a:pPr>
              <a:spcBef>
                <a:spcPts val="1000"/>
              </a:spcBef>
              <a:defRPr sz="1200" b="1">
                <a:solidFill>
                  <a:srgbClr val="10B981"/>
                </a:solidFill>
              </a:defRPr>
            </a:pPr>
            <a:r>
              <a:t>• Alta Rentabilidade: Margem líquida de 24% na divisão de segurança, com 60% da atuação no mercado global.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463040"/>
            <a:ext cx="5242255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737360"/>
            <a:ext cx="46936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APO PRODUCTION UNIT · FILIPINAS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Selo Fiscal e Rastreabilidade (IRSIS): A estatal opera a inteligência de rastreamento fiscal para a Receita filipina desde 2014.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31,2 Bilhões de Selos operados com sucesso e segurança.</a:t>
            </a:r>
          </a:p>
          <a:p>
            <a:pPr>
              <a:spcBef>
                <a:spcPts val="1000"/>
              </a:spcBef>
              <a:defRPr sz="1200" b="1">
                <a:solidFill>
                  <a:srgbClr val="10B981"/>
                </a:solidFill>
              </a:defRPr>
            </a:pPr>
            <a:r>
              <a:t>• US$ 1,3 Bilhão/ano de arrecadação tributária protegida. Operação sustentável que retorna 50% dos lucros ao Tesouro Nacional.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CASOS DE SUCESSO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Rastreabilidade de Carga e Lacres Eletrônicos: Modelos Internacionais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3447288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081528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HÍBRIDO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Single E-Lock Scheme (China - Hong Kong)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Duas aduanas acreditam lacres e GPS. Fornecedores auditados participam em padrão aberto.</a:t>
            </a:r>
            <a:br/>
            <a:br/>
            <a:r>
              <a:t>Resultado: Tempo de liberação na fronteira caiu de 2 horas para poucos minutos em 93 postos aduaneiros.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70832" y="1463040"/>
            <a:ext cx="3447288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53712" y="1645920"/>
            <a:ext cx="3081528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PÚBLICO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RECTS (África Oriental: Quênia, Uganda, Ruanda)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Plataforma pública única operada pelas autoridades tributárias regionais para monitoramento de transporte transfronteiriço.</a:t>
            </a:r>
            <a:br/>
            <a:br/>
            <a:r>
              <a:t>Resultado: Redução do trânsito de 6 dias para 1,5 dia. Eficiência logística com transparência.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10144" y="1463040"/>
            <a:ext cx="3447288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93024" y="1645920"/>
            <a:ext cx="3081528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TRATADO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Acordo EAEU (União Econômica Eurasiática)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Tratado internacional com requisitos uniformes para lacres eletrônicos e operador nacional autorizado por país.</a:t>
            </a:r>
            <a:br/>
            <a:br/>
            <a:r>
              <a:t>Resultado: Modelo de integração interoperável ideal para replicação no Mercosul.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MANDATO ESTRATÉGICO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PL 3.025/2023 (Ouro): O Congresso Atribui a Certificação à Casa da Moeda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101800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APROVADO NA CÂMARA EM ABRIL DE 2026 — EM TRAMITAÇÃO NO SENADO</a:t>
            </a:r>
          </a:p>
          <a:p>
            <a:pPr>
              <a:spcBef>
                <a:spcPts val="500"/>
              </a:spcBef>
              <a:defRPr sz="1600" b="1">
                <a:solidFill>
                  <a:srgbClr val="F8FAFC"/>
                </a:solidFill>
              </a:defRPr>
            </a:pPr>
            <a:r>
              <a:t>O PL 3.025/2023 atribui à Casa da Moeda do Brasil a gestão e certificação exclusiva da marcação física e digital de todo o ouro produzido no país.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108960"/>
            <a:ext cx="34472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308152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Marcação Física e Digital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Certificação operada com exclusividade pela CMB em barras e minério.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70832" y="3108960"/>
            <a:ext cx="34472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3291840"/>
            <a:ext cx="308152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Digitalização e Rastreio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Nota Fiscal Eletrônica (NF-e) vinculada à Guia de Transporte e Custódia (GTCO).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10144" y="3108960"/>
            <a:ext cx="34472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3024" y="3291840"/>
            <a:ext cx="308152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Taxa Regulatória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Criação de taxa por transação para custear a operação pública contínua da CMB.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POLÍTICA INDUSTRIAL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A Sinergia Estatal de Tecnologia: Ceitec + Casa da Moeda + ITI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" y="1828800"/>
            <a:ext cx="3230575" cy="411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1828800"/>
            <a:ext cx="323057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103120"/>
            <a:ext cx="286481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1. CHIP &amp; TAG RFID</a:t>
            </a:r>
          </a:p>
          <a:p>
            <a:pPr>
              <a:spcBef>
                <a:spcPts val="400"/>
              </a:spcBef>
              <a:defRPr sz="1100" b="1">
                <a:solidFill>
                  <a:srgbClr val="2563EB"/>
                </a:solidFill>
              </a:defRPr>
            </a:pPr>
            <a:r>
              <a:t>Ceitec (MCTI)</a:t>
            </a:r>
          </a:p>
          <a:p>
            <a:pPr>
              <a:spcBef>
                <a:spcPts val="1200"/>
              </a:spcBef>
              <a:defRPr sz="1100">
                <a:solidFill>
                  <a:srgbClr val="CBD5E1"/>
                </a:solidFill>
              </a:defRPr>
            </a:pPr>
            <a:r>
              <a:t>Reativada pelo Decreto 11.478/2023 (R$ 220 mi do FNDCT).</a:t>
            </a:r>
            <a:br/>
            <a:br/>
            <a:r>
              <a:t>Fabrica o circuito integrado nacional, módulos e tags RFID/NFC em semicondutores.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1828800"/>
            <a:ext cx="3230575" cy="411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1828800"/>
            <a:ext cx="3230575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103120"/>
            <a:ext cx="286481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2. CONFIO &amp; CUSTÓDIA</a:t>
            </a:r>
          </a:p>
          <a:p>
            <a:pPr>
              <a:spcBef>
                <a:spcPts val="400"/>
              </a:spcBef>
              <a:defRPr sz="1100" b="1">
                <a:solidFill>
                  <a:srgbClr val="D97706"/>
                </a:solidFill>
              </a:defRPr>
            </a:pPr>
            <a:r>
              <a:t>Casa da Moeda (MF)</a:t>
            </a:r>
          </a:p>
          <a:p>
            <a:pPr>
              <a:spcBef>
                <a:spcPts val="1200"/>
              </a:spcBef>
              <a:defRPr sz="1100">
                <a:solidFill>
                  <a:srgbClr val="CBD5E1"/>
                </a:solidFill>
              </a:defRPr>
            </a:pPr>
            <a:r>
              <a:t>Âncora de Confiança Pública.</a:t>
            </a:r>
            <a:br/>
            <a:br/>
            <a:r>
              <a:t>Efetua a personalização criptográfica dos chips, emissão das identidades e gestão do registro e revogação.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1828800"/>
            <a:ext cx="3230575" cy="411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79" y="1828800"/>
            <a:ext cx="3230575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59" y="2103120"/>
            <a:ext cx="286481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3. SELO ELETRÔNICO</a:t>
            </a:r>
          </a:p>
          <a:p>
            <a:pPr>
              <a:spcBef>
                <a:spcPts val="400"/>
              </a:spcBef>
              <a:defRPr sz="1100" b="1">
                <a:solidFill>
                  <a:srgbClr val="10B981"/>
                </a:solidFill>
              </a:defRPr>
            </a:pPr>
            <a:r>
              <a:t>ITI / ICP-Brasil (PR)</a:t>
            </a:r>
          </a:p>
          <a:p>
            <a:pPr>
              <a:spcBef>
                <a:spcPts val="1200"/>
              </a:spcBef>
              <a:defRPr sz="1100">
                <a:solidFill>
                  <a:srgbClr val="CBD5E1"/>
                </a:solidFill>
              </a:defRPr>
            </a:pPr>
            <a:r>
              <a:t>Garantia Jurídica Documental.</a:t>
            </a:r>
            <a:br/>
            <a:br/>
            <a:r>
              <a:t>Emite o Selo Eletrônico (Resolução ITI/2024) para vinculação jurídica de pessoas jurídicas e atos oficiais.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DEMANDA EXTERNA &amp; LOGÍSTICA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Janelas Regulatórias e Infraestrutura: Passaporte Digital e Rotas PAC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1206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Exigência Europeia: Passaporte Digital (DPP)</a:t>
            </a:r>
          </a:p>
          <a:p>
            <a:pPr>
              <a:spcBef>
                <a:spcPts val="1000"/>
              </a:spcBef>
              <a:defRPr sz="1200" b="1">
                <a:solidFill>
                  <a:srgbClr val="0F172A"/>
                </a:solidFill>
              </a:defRPr>
            </a:pPr>
            <a:r>
              <a:t>• Passaporte de Baterias (2027)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Obrigatório na UE — exige rastreabilidade de origem e pegada de carbono.</a:t>
            </a:r>
          </a:p>
          <a:p>
            <a:pPr>
              <a:spcBef>
                <a:spcPts val="1000"/>
              </a:spcBef>
              <a:defRPr sz="1200" b="1">
                <a:solidFill>
                  <a:srgbClr val="0F172A"/>
                </a:solidFill>
              </a:defRPr>
            </a:pPr>
            <a:r>
              <a:t>• Expansão Geral (2027–2030)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Exigido para têxteis, alumínio, eletrônicos e químicos exportados à Europa.</a:t>
            </a:r>
          </a:p>
          <a:p>
            <a:pPr>
              <a:spcBef>
                <a:spcPts val="1000"/>
              </a:spcBef>
              <a:defRPr sz="1200" b="1">
                <a:solidFill>
                  <a:srgbClr val="0F172A"/>
                </a:solidFill>
              </a:defRPr>
            </a:pPr>
            <a:r>
              <a:t>• O Papel da CMB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Garantir que os exportadores brasileiros possuam identidades digitais públicas confiáveis e auditáveis.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463040"/>
            <a:ext cx="5242255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737360"/>
            <a:ext cx="46936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97706"/>
                </a:solidFill>
              </a:defRPr>
            </a:pPr>
            <a:r>
              <a:t>Rotas de Integração Sul-Americana</a:t>
            </a:r>
          </a:p>
          <a:p>
            <a:pPr>
              <a:spcBef>
                <a:spcPts val="1000"/>
              </a:spcBef>
              <a:defRPr sz="1200" b="1">
                <a:solidFill>
                  <a:srgbClr val="0F172A"/>
                </a:solidFill>
              </a:defRPr>
            </a:pPr>
            <a:r>
              <a:t>• 190 Obras Estruturantes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Rodovias, ferrovias e portos integrando o Brasil ao Oceano Pacífico e ao Mercosul (US$ 10 bi BNDES).</a:t>
            </a:r>
          </a:p>
          <a:p>
            <a:pPr>
              <a:spcBef>
                <a:spcPts val="1000"/>
              </a:spcBef>
              <a:defRPr sz="1200" b="1">
                <a:solidFill>
                  <a:srgbClr val="0F172A"/>
                </a:solidFill>
              </a:defRPr>
            </a:pPr>
            <a:r>
              <a:t>• Conexão com o Pacífico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Redução substancial do tempo de transporte de carga para os mercados asiáticos.</a:t>
            </a:r>
          </a:p>
          <a:p>
            <a:pPr>
              <a:spcBef>
                <a:spcPts val="1000"/>
              </a:spcBef>
              <a:defRPr sz="1200" b="1">
                <a:solidFill>
                  <a:srgbClr val="0F172A"/>
                </a:solidFill>
              </a:defRPr>
            </a:pPr>
            <a:r>
              <a:t>• A Camada Digital Faltante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Lacre Eletrônico Certificado que permita o trânsito contínuo de caminhões entre as fronteiras.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IMPACTO ECONÔMICO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Proteção do Mercado Nacional e Garantia de Arrecadação Tributária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4114800" cy="4846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3566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MERCADO A SETEGER</a:t>
            </a:r>
          </a:p>
          <a:p>
            <a:pPr>
              <a:spcBef>
                <a:spcPts val="500"/>
              </a:spcBef>
              <a:defRPr sz="3200" b="1">
                <a:solidFill>
                  <a:srgbClr val="10B981"/>
                </a:solidFill>
              </a:defRPr>
            </a:pPr>
            <a:r>
              <a:t>R$ 500 Bilhões</a:t>
            </a:r>
          </a:p>
          <a:p>
            <a:pPr>
              <a:spcBef>
                <a:spcPts val="500"/>
              </a:spcBef>
              <a:defRPr sz="1100">
                <a:solidFill>
                  <a:srgbClr val="94A3B8"/>
                </a:solidFill>
              </a:defRPr>
            </a:pPr>
            <a:r>
              <a:t>Estimativa do Fórum Nacional Contra a Pirataria (FNCP) referente ao potencial de recuperação legal e tributária.</a:t>
            </a:r>
          </a:p>
          <a:p>
            <a:pPr>
              <a:spcBef>
                <a:spcPts val="2000"/>
              </a:spcBef>
              <a:defRPr sz="1100" b="1">
                <a:solidFill>
                  <a:srgbClr val="F8FAFC"/>
                </a:solidFill>
              </a:defRPr>
            </a:pPr>
            <a:r>
              <a:t>SETORES PRIORITÁRIOS:</a:t>
            </a:r>
          </a:p>
          <a:p>
            <a:pPr>
              <a:spcBef>
                <a:spcPts val="500"/>
              </a:spcBef>
              <a:defRPr sz="1200">
                <a:solidFill>
                  <a:srgbClr val="CBD5E1"/>
                </a:solidFill>
              </a:defRPr>
            </a:pPr>
            <a:r>
              <a:t>• Vestuário &amp; Têxteis</a:t>
            </a:r>
            <a:br/>
            <a:r>
              <a:t>• Bebidas Alcoólicas</a:t>
            </a:r>
            <a:br/>
            <a:r>
              <a:t>• Combustíveis &amp; Defensivos</a:t>
            </a:r>
            <a:br/>
            <a:r>
              <a:t>• Ouro &amp; Minérios Raros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0" y="1463040"/>
            <a:ext cx="6339535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0" y="1737360"/>
            <a:ext cx="57908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Ganhos de Eficiência para o Estado:</a:t>
            </a:r>
          </a:p>
          <a:p>
            <a:pPr>
              <a:spcBef>
                <a:spcPts val="1200"/>
              </a:spcBef>
              <a:defRPr sz="1300" b="1">
                <a:solidFill>
                  <a:srgbClr val="2563EB"/>
                </a:solidFill>
              </a:defRPr>
            </a:pPr>
            <a:r>
              <a:t>• Aumento de Arrecadação sem Elevação de Alíquotas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Sistemas digitais de rastreabilidade promovem a formalização imediata dos mercados e elevação da receita pública.</a:t>
            </a:r>
          </a:p>
          <a:p>
            <a:pPr>
              <a:spcBef>
                <a:spcPts val="1200"/>
              </a:spcBef>
              <a:defRPr sz="1300" b="1">
                <a:solidFill>
                  <a:srgbClr val="2563EB"/>
                </a:solidFill>
              </a:defRPr>
            </a:pPr>
            <a:r>
              <a:t>• Integridade das Cadeias de Custódia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Lacre eletrônico dual (UHF+NFC) e registro de passagem contínuo garantem a procedência de bens e mercadorias.</a:t>
            </a:r>
          </a:p>
          <a:p>
            <a:pPr>
              <a:spcBef>
                <a:spcPts val="1200"/>
              </a:spcBef>
              <a:defRPr sz="1300" b="1">
                <a:solidFill>
                  <a:srgbClr val="2563EB"/>
                </a:solidFill>
              </a:defRPr>
            </a:pPr>
            <a:r>
              <a:t>• Dossiê Audito-Digital em Tempo Real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Tecnologia de rastreamento gera evidências incontestáveis para fiscalizações e auditorias aduaneiras.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DESENHO DA SOLUÇÃO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Arquitetura em Três Camadas: O Esquema CLEC-CMB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3447288" cy="4846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3447288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3081528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CAMADA 1 · MERCADO</a:t>
            </a:r>
          </a:p>
          <a:p>
            <a:pPr>
              <a:spcBef>
                <a:spcPts val="400"/>
              </a:spcBef>
              <a:defRPr sz="1600" b="1">
                <a:solidFill>
                  <a:srgbClr val="F8FAFC"/>
                </a:solidFill>
              </a:defRPr>
            </a:pPr>
            <a:r>
              <a:t>Lacre Eletrônico Certificado</a:t>
            </a:r>
          </a:p>
          <a:p>
            <a:pPr>
              <a:spcBef>
                <a:spcPts val="1500"/>
              </a:spcBef>
              <a:defRPr sz="1100">
                <a:solidFill>
                  <a:srgbClr val="CBD5E1"/>
                </a:solidFill>
              </a:defRPr>
            </a:pPr>
            <a:r>
              <a:t>O dispositivo físico com chip dual (RFID UHF + NFC). Fornecedores privados competem e fabricam sob a especificação da CMB.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70832" y="1463040"/>
            <a:ext cx="3447288" cy="4846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70832" y="1463040"/>
            <a:ext cx="3447288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737360"/>
            <a:ext cx="3081528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CAMADA 2 · CASA DA MOEDA</a:t>
            </a:r>
          </a:p>
          <a:p>
            <a:pPr>
              <a:spcBef>
                <a:spcPts val="400"/>
              </a:spcBef>
              <a:defRPr sz="1600" b="1">
                <a:solidFill>
                  <a:srgbClr val="F8FAFC"/>
                </a:solidFill>
              </a:defRPr>
            </a:pPr>
            <a:r>
              <a:t>Identidade Digital de Custódia</a:t>
            </a:r>
          </a:p>
          <a:p>
            <a:pPr>
              <a:spcBef>
                <a:spcPts val="1500"/>
              </a:spcBef>
              <a:defRPr sz="1100">
                <a:solidFill>
                  <a:srgbClr val="CBD5E1"/>
                </a:solidFill>
              </a:defRPr>
            </a:pPr>
            <a:r>
              <a:t>A CMB emite o registro único, efetua a personalização segura, gerencia a infraestrutura criptográfica e autorização de chaves.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10144" y="1463040"/>
            <a:ext cx="3447288" cy="4846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10144" y="1463040"/>
            <a:ext cx="344728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93024" y="1737360"/>
            <a:ext cx="3081528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CAMADA 3 · ITI / GOVERNO</a:t>
            </a:r>
          </a:p>
          <a:p>
            <a:pPr>
              <a:spcBef>
                <a:spcPts val="400"/>
              </a:spcBef>
              <a:defRPr sz="1600" b="1">
                <a:solidFill>
                  <a:srgbClr val="F8FAFC"/>
                </a:solidFill>
              </a:defRPr>
            </a:pPr>
            <a:r>
              <a:t>Selo Eletrônico ICP-Brasil</a:t>
            </a:r>
          </a:p>
          <a:p>
            <a:pPr>
              <a:spcBef>
                <a:spcPts val="1500"/>
              </a:spcBef>
              <a:defRPr sz="1100">
                <a:solidFill>
                  <a:srgbClr val="CBD5E1"/>
                </a:solidFill>
              </a:defRPr>
            </a:pPr>
            <a:r>
              <a:t>O carimbo digital institucional da pessoa jurídica emitente, conferindo eficácia probatória plena perante os tribunais e fiscos.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ESPECIFICAÇÃO TÉCNICA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Os Quatro Objetos do Processo de Certificação CMB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27243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81523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1. Dispositivo Físico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Evidência mecânica inviolável de abertura; resistência a corte, vibração, temperatura, maresia e impacto.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81344" y="1463040"/>
            <a:ext cx="527243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9944" y="1645920"/>
            <a:ext cx="481523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2. Cibersegurança &amp; Chip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Chaves criptográficas individualizadas por dispositivo; proteção anticlonagem e indivisibilidade dual UHF/NFC.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931920"/>
            <a:ext cx="527243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114800"/>
            <a:ext cx="481523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3. Plataforma &amp; Eventos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Registro imutável dos eventos de custódia (lacração, passagem, inspeção) no padrão interoperável GS1 EPCIS.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1344" y="3931920"/>
            <a:ext cx="527243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4114800"/>
            <a:ext cx="481523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4. Processos &amp; Operadores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Acreditação dos agentes autorizados a efetuar lacração e deslacração com controle de perfil de acesso.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MATRIZ DE OBJEÇÕES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Respostas aos Questionamentos Regulatórios e Estruturais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1">
                <a:solidFill>
                  <a:srgbClr val="2563EB"/>
                </a:solidFill>
              </a:defRPr>
            </a:pPr>
            <a:r>
              <a:t>“Como fica o papel das estatais no ambiente digital?”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</a:defRPr>
            </a:pPr>
            <a:r>
              <a:t>KOMSCO, Bundesdruckerei e IN Groupe provam que as estatais de moeda são as líderes naturais da transição para a confiança digital no mundo.</a:t>
            </a:r>
          </a:p>
          <a:p>
            <a:pPr>
              <a:spcBef>
                <a:spcPts val="1000"/>
              </a:spcBef>
              <a:defRPr sz="1300" b="1">
                <a:solidFill>
                  <a:srgbClr val="2563EB"/>
                </a:solidFill>
              </a:defRPr>
            </a:pPr>
            <a:r>
              <a:t>“Criará reserva de mercado ou monopólio?”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</a:defRPr>
            </a:pPr>
            <a:r>
              <a:t>FALSO. O Esquema CMB é aberto e multifornecedor. Qualquer fabricante pode fornecer o lacre, desde que certificado por ensaios independentes.</a:t>
            </a:r>
          </a:p>
          <a:p>
            <a:pPr>
              <a:spcBef>
                <a:spcPts val="1000"/>
              </a:spcBef>
              <a:defRPr sz="1300" b="1">
                <a:solidFill>
                  <a:srgbClr val="2563EB"/>
                </a:solidFill>
              </a:defRPr>
            </a:pPr>
            <a:r>
              <a:t>“Qual o respaldo do modelo institucional?”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</a:defRPr>
            </a:pPr>
            <a:r>
              <a:t>O Estatuto da CMB autoriza atividades industriais e tecnológicas de interesse público, em linha com o projeto de lei aprovado para o ouro.</a:t>
            </a:r>
          </a:p>
          <a:p>
            <a:pPr>
              <a:spcBef>
                <a:spcPts val="1000"/>
              </a:spcBef>
              <a:defRPr sz="1300" b="1">
                <a:solidFill>
                  <a:srgbClr val="2563EB"/>
                </a:solidFill>
              </a:defRPr>
            </a:pPr>
            <a:r>
              <a:t>“A CMB seria juíza e parte no mercado?”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</a:defRPr>
            </a:pPr>
            <a:r>
              <a:t>Separação funcional total: a acreditação de laboratórios é do Inmetro/Cgcre. A CMB atua como gestora do esquema de confiança e chaves.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SUSTENTABILIDADE FINANCEIRA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Fontes de Receita do Esquema CLEC-CMB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2532888" cy="4846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2532888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258568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Licenciamento da Marca</a:t>
            </a:r>
          </a:p>
          <a:p>
            <a:pPr>
              <a:spcBef>
                <a:spcPts val="1200"/>
              </a:spcBef>
              <a:defRPr sz="1100">
                <a:solidFill>
                  <a:srgbClr val="CBD5E1"/>
                </a:solidFill>
              </a:defRPr>
            </a:pPr>
            <a:r>
              <a:t>Royalty por unidade fabricada pelo mercado sob a marca de conformidade CMB.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56432" y="1463040"/>
            <a:ext cx="2532888" cy="4846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56432" y="1463040"/>
            <a:ext cx="253288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1737360"/>
            <a:ext cx="2258568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Taxas do Ouro (PL 3.025)</a:t>
            </a:r>
          </a:p>
          <a:p>
            <a:pPr>
              <a:spcBef>
                <a:spcPts val="1200"/>
              </a:spcBef>
              <a:defRPr sz="1100">
                <a:solidFill>
                  <a:srgbClr val="CBD5E1"/>
                </a:solidFill>
              </a:defRPr>
            </a:pPr>
            <a:r>
              <a:t>Receita regulatória prevista em lei para custear a gestão da rastreabilidade do ouro.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1344" y="1463040"/>
            <a:ext cx="2532888" cy="4846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81344" y="1463040"/>
            <a:ext cx="2532888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737360"/>
            <a:ext cx="2258568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Personalização &amp; Emissão</a:t>
            </a:r>
          </a:p>
          <a:p>
            <a:pPr>
              <a:spcBef>
                <a:spcPts val="1200"/>
              </a:spcBef>
              <a:defRPr sz="1100">
                <a:solidFill>
                  <a:srgbClr val="CBD5E1"/>
                </a:solidFill>
              </a:defRPr>
            </a:pPr>
            <a:r>
              <a:t>Tarifa por emissão segura de identidade de custódia e gravação criptográfica.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06256" y="1463040"/>
            <a:ext cx="2532888" cy="4846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906256" y="1463040"/>
            <a:ext cx="2532888" cy="91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43416" y="1737360"/>
            <a:ext cx="2258568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Registro &amp; Validação API</a:t>
            </a:r>
          </a:p>
          <a:p>
            <a:pPr>
              <a:spcBef>
                <a:spcPts val="1200"/>
              </a:spcBef>
              <a:defRPr sz="1100">
                <a:solidFill>
                  <a:srgbClr val="CBD5E1"/>
                </a:solidFill>
              </a:defRPr>
            </a:pPr>
            <a:r>
              <a:t>Tarifa por transação de consulta, validação e auditoria de custódia em tempo real.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VALOR PÚBLICO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Quatro Dividendos Estratégicos para o Estado Brasileiro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27243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81523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1. Arrecadação Tributária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Formalização e proteção dos setores de combustíveis, bebidas, vestuário, ouro e minérios.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81344" y="1463040"/>
            <a:ext cx="527243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9944" y="1645920"/>
            <a:ext cx="481523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2. Logística &amp; Competitividade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Desgargalhamento das fronteiras estaduais e internacionais. Liberação de cargas em minutos.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931920"/>
            <a:ext cx="527243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114800"/>
            <a:ext cx="481523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3. Defesa do Exportador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Garantia de conformidade dos produtos brasileiros (agro e indústria) com o Passaporte Digital Europeu (DPP).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1344" y="3931920"/>
            <a:ext cx="527243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4114800"/>
            <a:ext cx="481523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4. Reindustrialização (Ceitec)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Demanda compradora âncora para a fábrica nacional de chips da Ceitec e indústrias de hardware.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ROTEIRO DE 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Cronograma de Implantação em Cinco Fases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20116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1737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Fase 1 · Ouro</a:t>
            </a:r>
          </a:p>
          <a:p>
            <a:pPr>
              <a:spcBef>
                <a:spcPts val="200"/>
              </a:spcBef>
              <a:defRPr sz="1100" b="1">
                <a:solidFill>
                  <a:srgbClr val="D97706"/>
                </a:solidFill>
              </a:defRPr>
            </a:pPr>
            <a:r>
              <a:t>2026–2027</a:t>
            </a:r>
          </a:p>
          <a:p>
            <a:pPr>
              <a:spcBef>
                <a:spcPts val="1000"/>
              </a:spcBef>
              <a:defRPr sz="1000">
                <a:solidFill>
                  <a:srgbClr val="475569"/>
                </a:solidFill>
              </a:defRPr>
            </a:pPr>
            <a:r>
              <a:t>Acompanhamento do PL 3.025 no Senado e estruturação operacional da certificação do ouro (piloto legal).</a:t>
            </a:r>
          </a:p>
        </p:txBody>
      </p:sp>
      <p:sp>
        <p:nvSpPr>
          <p:cNvPr id="6" name="Rectangle 5"/>
          <p:cNvSpPr/>
          <p:nvPr/>
        </p:nvSpPr>
        <p:spPr>
          <a:xfrm>
            <a:off x="2907791" y="1463040"/>
            <a:ext cx="20116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44951" y="1645920"/>
            <a:ext cx="1737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Fase 2 · Esquema CLEC</a:t>
            </a:r>
          </a:p>
          <a:p>
            <a:pPr>
              <a:spcBef>
                <a:spcPts val="200"/>
              </a:spcBef>
              <a:defRPr sz="1100" b="1">
                <a:solidFill>
                  <a:srgbClr val="D97706"/>
                </a:solidFill>
              </a:defRPr>
            </a:pPr>
            <a:r>
              <a:t>2027</a:t>
            </a:r>
          </a:p>
          <a:p>
            <a:pPr>
              <a:spcBef>
                <a:spcPts val="1000"/>
              </a:spcBef>
              <a:defRPr sz="1000">
                <a:solidFill>
                  <a:srgbClr val="475569"/>
                </a:solidFill>
              </a:defRPr>
            </a:pPr>
            <a:r>
              <a:t>Instituição do Grupo de Trabalho Interministerial, alinhamento Inmetro/ITI/Anatel e especificação aberta.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4064" y="1463040"/>
            <a:ext cx="20116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21224" y="1645920"/>
            <a:ext cx="1737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Fase 3 · Piloto</a:t>
            </a:r>
          </a:p>
          <a:p>
            <a:pPr>
              <a:spcBef>
                <a:spcPts val="200"/>
              </a:spcBef>
              <a:defRPr sz="1100" b="1">
                <a:solidFill>
                  <a:srgbClr val="D97706"/>
                </a:solidFill>
              </a:defRPr>
            </a:pPr>
            <a:r>
              <a:t>2027–2028</a:t>
            </a:r>
          </a:p>
          <a:p>
            <a:pPr>
              <a:spcBef>
                <a:spcPts val="1000"/>
              </a:spcBef>
              <a:defRPr sz="1000">
                <a:solidFill>
                  <a:srgbClr val="475569"/>
                </a:solidFill>
              </a:defRPr>
            </a:pPr>
            <a:r>
              <a:t>Piloto operacional multifornecedor em corredores logísticos prioritários com avaliação de ganhos.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60336" y="1463040"/>
            <a:ext cx="20116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97496" y="1645920"/>
            <a:ext cx="1737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Fase 4 · Escala</a:t>
            </a:r>
          </a:p>
          <a:p>
            <a:pPr>
              <a:spcBef>
                <a:spcPts val="200"/>
              </a:spcBef>
              <a:defRPr sz="1100" b="1">
                <a:solidFill>
                  <a:srgbClr val="D97706"/>
                </a:solidFill>
              </a:defRPr>
            </a:pPr>
            <a:r>
              <a:t>2028–2029</a:t>
            </a:r>
          </a:p>
          <a:p>
            <a:pPr>
              <a:spcBef>
                <a:spcPts val="1000"/>
              </a:spcBef>
              <a:defRPr sz="1000">
                <a:solidFill>
                  <a:srgbClr val="475569"/>
                </a:solidFill>
              </a:defRPr>
            </a:pPr>
            <a:r>
              <a:t>Expansão da plataforma para cargas nacionais reguladas e integração com documentos fiscais (DT-e/NF-e).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36608" y="1463040"/>
            <a:ext cx="20116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73768" y="1645920"/>
            <a:ext cx="1737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Fase 5 · Mercosul</a:t>
            </a:r>
          </a:p>
          <a:p>
            <a:pPr>
              <a:spcBef>
                <a:spcPts val="200"/>
              </a:spcBef>
              <a:defRPr sz="1100" b="1">
                <a:solidFill>
                  <a:srgbClr val="D97706"/>
                </a:solidFill>
              </a:defRPr>
            </a:pPr>
            <a:r>
              <a:t>2029–2030</a:t>
            </a:r>
          </a:p>
          <a:p>
            <a:pPr>
              <a:spcBef>
                <a:spcPts val="1000"/>
              </a:spcBef>
              <a:defRPr sz="1000">
                <a:solidFill>
                  <a:srgbClr val="475569"/>
                </a:solidFill>
              </a:defRPr>
            </a:pPr>
            <a:r>
              <a:t>Harmonização de requisitos no Mercosul e adoção de lacres integrados nas Rotas Sul-Americanas.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97280"/>
            <a:ext cx="1072865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</a:defRPr>
            </a:pPr>
            <a:r>
              <a:t>A DECISÃO DO GOVERNO FEDERAL</a:t>
            </a:r>
          </a:p>
          <a:p>
            <a:pPr>
              <a:spcBef>
                <a:spcPts val="1000"/>
              </a:spcBef>
              <a:defRPr sz="2600" b="1">
                <a:solidFill>
                  <a:srgbClr val="F8FAFC"/>
                </a:solidFill>
              </a:defRPr>
            </a:pPr>
            <a:r>
              <a:t>“O mundo confia em quem certifica. O Brasil já possui sua certificadora pública.”</a:t>
            </a:r>
          </a:p>
          <a:p>
            <a:pPr>
              <a:spcBef>
                <a:spcPts val="1500"/>
              </a:spcBef>
              <a:defRPr sz="1500">
                <a:solidFill>
                  <a:srgbClr val="CBD5E1"/>
                </a:solidFill>
              </a:defRPr>
            </a:pPr>
            <a:r>
              <a:t>Instituir a Casa da Moeda como Eixo Nacional de Certificação é seguir o caminho consagrado da Alemanha, Coreia do Sul e França — alavancando a infraestrutura pública existente e garantindo o protagonismo tecnológico e a soberania digital do Brasil.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389120"/>
            <a:ext cx="10728655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4572000"/>
            <a:ext cx="101800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PRÓXIMO PASSO RECOMENDADO:</a:t>
            </a:r>
          </a:p>
          <a:p>
            <a:pPr>
              <a:spcBef>
                <a:spcPts val="500"/>
              </a:spcBef>
              <a:defRPr sz="1400" b="1">
                <a:solidFill>
                  <a:srgbClr val="F8FAFC"/>
                </a:solidFill>
              </a:defRPr>
            </a:pPr>
            <a:r>
              <a:t>Publicação de Portaria Interministerial (MF / MGI / MDIC / MTransportes) instituindo o Grupo de Trabalho para a estruturação do Esquema CMB de Certificação de Lacres Eletrônicos e Confiança Digital (CLEC-CMB).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