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 Futuro da Casa da Moeda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Controle Logístico Nacional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 Reindustrialização do País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DAA520"/>
                </a:solidFill>
              </a:defRPr>
            </a:pPr>
            <a:r>
              <a:t>Por que o Brasil deve assumir o comando da circulação de suas mercadorias</a:t>
            </a:r>
          </a:p>
          <a:p>
            <a:pPr algn="ctr">
              <a:defRPr sz="2400">
                <a:solidFill>
                  <a:srgbClr val="DAA520"/>
                </a:solidFill>
              </a:defRPr>
            </a:pPr>
          </a:p>
          <a:p>
            <a:pPr algn="ctr">
              <a:defRPr sz="2400">
                <a:solidFill>
                  <a:srgbClr val="DAA520"/>
                </a:solidFill>
              </a:defRPr>
            </a:pPr>
            <a:r>
              <a:t>Projeto CLEC-CMB - Versão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Módulo 1</a:t>
            </a:r>
          </a:p>
          <a:p>
            <a:pPr algn="ctr">
              <a:defRPr sz="5000" b="1">
                <a:solidFill>
                  <a:srgbClr val="FFFFFF"/>
                </a:solidFill>
              </a:defRPr>
            </a:pPr>
            <a:r>
              <a:t>A Grande Visão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DAA520"/>
                </a:solidFill>
              </a:defRPr>
            </a:pPr>
            <a:r>
              <a:t>Soberania e Reindustrialização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Brasil no Comando da Circulação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Soberania logística significa ter visibilidade total sobre o que entra, o que sai e o que circula no país.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Não basta investir em rodovias e portos se não sabemos o que transita sobre eles de forma confiável.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Estado brasileiro precisa de uma malha digital tão robusta quanto a malha física.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Controle Logístico Nacional é a espinha dorsal de um país que se leva a sério no comércio global.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Desafio Logístico do Século XXI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foco da logística mundial mudou: não é apenas sobre mover mercadorias, mas sobre rastrear, certificar e garantir origem.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Cadeias de suprimento globais exigem transparência (ex: ESG, fim do desmatamento importado, trabalho escravo).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Sem uma âncora de confiança pública, o Brasil fica refém de certificações estrangeiras privadas.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confiança se tornou a moeda mais valiosa do comércio internacional.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A Reindustrialização Passa pela Confiança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tecnologia de rastreabilidade (RFID, NFC, Criptografia) puxa a indústria de ponta.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Ao demandar lacres eletrônicos e chips, o Estado cria um mercado comprador que financia a Nova Indústria Brasil (NIB).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reindustrialização não é apenas subsidiar fábricas, é criar demanda estratégica do Estado.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microeletrônica nacional ganha sentido e viabilidade comercial operando a confiança do Estado.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De Impressora a Âncora Pública de Confiança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Casa da Moeda do Brasil (CMB) tem 330 anos de reputação inabalável.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Seu futuro não está apenas no papel e na tinta, mas na emissão de identidades seguras para coisas e processos.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CMB é a instituição natural para ancorar a confiança entre o Fisco, a Indústria e o Cidadão.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papel da CMB evolui: de fabricante de cédulas para Gestora Nacional de Confiança Logística.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Módulo 2</a:t>
            </a:r>
          </a:p>
          <a:p>
            <a:pPr algn="ctr">
              <a:defRPr sz="5000" b="1">
                <a:solidFill>
                  <a:srgbClr val="FFFFFF"/>
                </a:solidFill>
              </a:defRPr>
            </a:pPr>
            <a:r>
              <a:t>O Diagnóstico e A Sangria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DAA520"/>
                </a:solidFill>
              </a:defRPr>
            </a:pPr>
            <a:r>
              <a:t>O Custo da Falta de Controle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A Sangria Silenciosa no Trânsito de Cargas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Brasil perde quantias astronômicas devido à falta de visibilidade logística em tempo real.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Mercadorias evaporam em zonas de trânsito, alimentando a economia paralela.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custo do seguro de cargas no Brasil é um dos mais altos do mundo.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ausência de controle penaliza o empresário honesto e premia o crime organizado.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R$ 500 Bilhões/Ano de Prejuízo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Dados de 2024 do Fórum Nacional Contra a Pirataria e Ilegalidade (FNCP) mostram um rombo recorde.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R$ 500 bilhões perdidos para o contrabando, pirataria e falsificação anualmente.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São impostos não recolhidos, empregos não gerados e indústrias fechadas.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mercado ilícito usa as estradas federais como suas esteiras rolantes.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A Sonegação Fiscal: O Ponto Cego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fraude não ocorre no papel, ocorre no mundo físico (notas frias para cargas que nunca viajaram, ou cargas sem nota).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'ponto cego' entre a fábrica e o porto é o principal ralo do ICMS e dos impostos federais.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Enquanto a nota fiscal (NF-e) é hiper-digitalizada, a carga física ainda é cega.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Sem amarrar a NF-e à carga física por um lacre seguro, a evasão continuará sistêmica.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Desperdício Operacional: Filas e Burocracia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Caminhões passam dias parados em portos e fronteiras aguardando inspeções manuais.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falta de confiança gera redundância de fiscalização por múltiplos órgãos (RFB, ANTT, SEFAZ).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tempo de viagem dobra, o custo do frete explode, a competitividade do agro e da indústria afunda.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Brasil exporta ineficiência e desperdício embarcado no preço de seus produtos.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Que o Brasil Perdeu: O Vácuo de 2016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Até 2016, a CMB operava o Sicobe e o Scorpios, gerando R$ 1,65 bilhão/ano.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Era contagem em tempo real de produção, com rastreabilidade avançada.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Brasil respondia por até 30% do mercado global de certificação fiscal, mas desligou o sistema.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CMB desceu um degrau estratégico, perdendo 75% de suas receitas em uma canetada.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A Ameaça à Soberania: Capital Estrangeiro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mercado global de trust e rastreabilidade está sendo consolidado por fundos de Wall Street e europeus.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Crane NXT comprando OpSec e De La Rue; IDEMIA fatiada e revendida.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terceirização da confiança do Estado brasileiro para corporações estrangeiras coloca em risco dados estratégicos.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Brasil não pode ser 'inquilino' no sistema de controle de sua própria economia.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Risco de Terceirizar a Confiança (SICPA)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Suíça condenou a multinacional SICPA a pagar CHF 81 milhões (2023).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Motivo: suborno de agentes públicos para garantir contratos em países como o Brasil (Operação Vícios, 2015).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terceirização de um serviço de Estado gera incentivos para captura da administração pública.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âncora de confiança de um país soberano deve ser pública e inquestionável.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Módulo 3</a:t>
            </a:r>
          </a:p>
          <a:p>
            <a:pPr algn="ctr">
              <a:defRPr sz="5000" b="1">
                <a:solidFill>
                  <a:srgbClr val="FFFFFF"/>
                </a:solidFill>
              </a:defRPr>
            </a:pPr>
            <a:r>
              <a:t>O Que o Brasil Pode Ganhar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DAA520"/>
                </a:solidFill>
              </a:defRPr>
            </a:pPr>
            <a:r>
              <a:t>Modernização e Aumento de Arrecadação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Estancando a Sangria: Evasão em Arrecadação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Controle Logístico Nacional converte o prejuízo em receita tributária real.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monitoramento contínuo inibe o desvio de rota, o roubo e a inserção de carga ilícita.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Cada bilhão recuperado do contrabando é um bilhão que entra no caixa do Tesouro Nacional.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É o investimento com o maior e mais rápido Retorno sobre o Investimento (ROI) possível para o Estado.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Ganhos Diretos para a Balança e o Tesouro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Redução drástica da sonegação de ICMS, IPI e Imposto de Importação.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Proteção da indústria nacional contra a concorrência desleal do produto falsificado e sem imposto.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Balança comercial mais robusta com exportações certificadas e valor agregado pela procedência.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transparência afasta o risco de barreiras tarifárias e ambientais estrangeiras.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Modernização Aduaneira: O Canal Verde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Com lacres eletrônicos certificados (CLEC), a carga pré-aprovada não para na fronteira.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aduana foca sua inteligência nas cargas de alto risco (as que chegam sem certificação CMB).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Liberação expressa para o bom contribuinte, reduzindo o trânsito portuário para minutos.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Um país fluido atrai mais investimentos produtivos (nearshoring).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Redução do 'Custo Brasil'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Menos tempo de caminhão parado = frete mais barato.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Visibilidade logística = prêmios de seguro de carga muito mais baixos.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Integração de dados = fim da redundância de documentos de papel nos postos fiscais.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agronegócio e a indústria chegam ao mercado externo com preços mais competitivos.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Fomento à Ceitec e à Indústria Nacional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Controle Logístico Nacional exige dezenas de milhões de chips e tags RFID anualmente.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Ceitec, recém-reativada pelo governo federal, encontra o cliente âncora perfeito.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Desenvolvimento da microeletrônica nacional, criando empregos de alta tecnologia.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Brasil deixa de ser importador de componentes e passa a dominar o hardware da confiança.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A Janela Regulatória Global (eIDAS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União Europeia inicia a exigência do Passaporte Digital de Produto (DPP) a partir de 2026/2027.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Exportadores brasileiros precisarão de certificados digitais para vender para a Europa.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Se o Brasil não tiver uma autoridade nacional pronta (CMB + ITI), nossos exportadores pagarão pedágio a europeus.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janela está aberta agora. Quem definir o padrão primeiro, dominará a regra.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Vazio Latino-Americano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Nenhum país da América do Sul possui um sistema de rastreabilidade logística transfronteiriça com selo eletrônico.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Brasil pode ser a âncora que unifica o padrão no Mercosul e na UNASUL.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Casa da Moeda pode exportar o serviço de infraestrutura de confiança para países vizinhos.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Liderança diplomática materializada em protocolos tecnológicos (geotecnologia).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Módulo 4</a:t>
            </a:r>
          </a:p>
          <a:p>
            <a:pPr algn="ctr">
              <a:defRPr sz="5000" b="1">
                <a:solidFill>
                  <a:srgbClr val="FFFFFF"/>
                </a:solidFill>
              </a:defRPr>
            </a:pPr>
            <a:r>
              <a:t>A Evidência Internacional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DAA520"/>
                </a:solidFill>
              </a:defRPr>
            </a:pPr>
            <a:r>
              <a:t>Estatais de Confiança pelo Mundo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Padrão Global: Reinvenção das Estatais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Com o declínio do dinheiro em espécie (Pix, cartões), 'Casas da Moeda' do mundo todo estão se reinventando.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Aquelas que continuaram focadas apenas em impressão e moedas enfrentam déficits operacionais.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Aquelas que migraram para Serviços de Confiança Digital e Rastreabilidade bateram recordes de lucro.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Casa da Moeda do Brasil precisa seguir o caminho dos vencedores globais.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KOMSCO (Coreia do Sul)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Enfrentou a queda de 2 bilhões para 600 milhões de cédulas anuais.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Investiu agressivamente em Mobile ID, plataformas anti-deepfake e rastreabilidade.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Resultado: Mais de 80% da receita atual vem de fora da produção de moedas e notas.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Lucros recordes sucessivos, operando como a âncora digital da nação coreana.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Bundesdruckerei (Alemanha)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estatal alemã adotou a bandeira da 'Soberania Digital' como sua nova missão.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Criou subsidiárias focadas em criptografia (D-Trust) e segurança de infraestrutura (genua).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Faturou mais de € 1,11 bilhão em 2024, multiplicando seu lucro por sete em quatro anos.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As cédulas de Euro hoje representam apenas 4,2% da receita total da empresa.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IN Groupe (França) &amp; APO (Filipinas)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francesa IN Groupe se refundou como provedora de segurança biométrica, comprando a IDEMIA Smart Identity.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Alcançou margens líquidas impressionantes, com 60% dos resultados vindos da exportação de confiança.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filipina APO assumiu a gestão integral dos selos fiscais ponta a ponta.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Tornou-se autossustentável e hoje devolve 50% de seus lucros para o Tesouro nacional.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Case Single E-lock Scheme (China - HK)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Um único lacre eletrônico é reconhecido pelas duas aduanas (China e Hong Kong).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trânsito de cargas entre os territórios pulou de 3 para mais de 1.000 rotas em poucos anos.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Tempo de liberação caiu de 2 horas para poucos minutos. Eliminação total de redundância.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Maior fluidez comercial do mundo operada com confiança criptográfica centralizada.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Case RECTS (África Oriental)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Quênia, Uganda e Ruanda implementaram um sistema unificado de rastreabilidade de cargas (RECTS).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Eliminou o antigo pedágio privado (nove operadoras cobravam até US$ 1.200 por caminhão).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tempo de trânsito internacional caiu de 6 dias para 1,5 dia.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Estado assumiu o controle, zerou a corrupção de fronteira e acelerou o comércio.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A Lição para o Brasil e para a CMB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CMB não é deficitária por natureza; ela perdeu seu principal motor de crescimento (Sicobe).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Subir o degrau da digitalização não é inovação experimental, é o roteiro padrão internacional comprovado.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Se as grandes nações ancoram seus sistemas logísticos e de confiança no Estado, o Brasil não pode fazer diferente.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futuro não é fechar fábricas, é liderar a plataforma tecnológica da reindustrialização.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Módulo 5</a:t>
            </a:r>
          </a:p>
          <a:p>
            <a:pPr algn="ctr">
              <a:defRPr sz="5000" b="1">
                <a:solidFill>
                  <a:srgbClr val="FFFFFF"/>
                </a:solidFill>
              </a:defRPr>
            </a:pPr>
            <a:r>
              <a:t>A Solução: Projeto CLEC-CMB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DAA520"/>
                </a:solidFill>
              </a:defRPr>
            </a:pPr>
            <a:r>
              <a:t>Infraestrutura Pública de Confiança Logística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Que é o CLEC-CMB?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Certificação de Lacres Eletrônicos e Cadeia de Custódia operada pela Casa da Moeda do Brasil.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Não é um projeto para a CMB fabricar todos os lacres plásticos do país.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É uma infraestrutura: a CMB certifica, fornece as chaves criptográficas seguras e mantém o grande livro-razão (registro).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Estado audita; a indústria privada produz sob as regras do Estado.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Modelo Aberto e Multifornecedor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Nenhum fornecedor de tecnologia terá o monopólio da rastreabilidade no Brasil.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Padrão aberto: qualquer fabricante que atingir o rigoroso nível de segurança técnica da CMB pode fornecer.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Isso garante concorrência, redução de preços e inovação constante.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Monopólio apenas na emissão da Identidade (Chave Criptográfica), protegendo o sistema contra clonagens.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As Três Camadas de Confiança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1. Camada Física (O Lacre): Proteção mecânica evidente contra fraude. Fabricação pelo setor privado certificado.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2. Camada Digital (A Identidade): Chip seguro emitido e assinado criptograficamente pela CMB.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3. Camada Documental (O Selo): Certificação do conjunto dos eventos logísticos pelo ITI / ICP-Brasil.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fraude exige quebrar o plástico, clonar a criptografia e fraudar a assinatura simultaneamente.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Mapa de Competências Institucionais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Casa da Moeda do Brasil atua como gestora e âncora da confiança e do registro nacional.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Inmetro continua responsável pela acreditação técnica dos laboratórios (ISO 17025).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Anatel continua homologando a emissão de radiofrequência dos leitores.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CMB orquestra, não concorre com os demais entes de Estado.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Integração com as Rotas Sul-Americanas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Brasil está investindo nas Rotas de Integração Sul-Americana (190 projetos no PAC).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Destaque: A Ferrovia Transoceânica e a conexão aos Portos do Pacífico (Chancay, Peru).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Sem o CLEC-CMB, essas rotas serão escoadouros sem controle e vetores de contrabando.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Com o CLEC-CMB, o Brasil lidera o fluxo de mercadorias interoceânicas com máxima visibilidade e fluidez.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Integração com Documentos Eletrônicos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Brasil já possui excelência mundial em sistemas documentais: NF-e, CT-e, DT-e.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lacuna de segurança atual é a conexão entre o documento perfeito e a carga no mundo real.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lacre certificado da CMB é o elo físico que prende a NF-e à mercadoria embarcada.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Fim do descolamento entre a declaração fiscal e o lastro real do produto.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Piloto Perfeito: Rastreabilidade do Ouro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Projeto de Lei 3.025/2023, aprovado na Câmara, já exige a rastreabilidade físico-digital do ouro.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E define textualmente a exclusividade da certificação pela Casa da Moeda do Brasil.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extração de ouro, marcada por sonegação e crimes ambientais, será domada por tecnologia do Estado.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ouro prova que o conceito funciona; o próximo passo é expandir para o restante da economia.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Módulo 6</a:t>
            </a:r>
          </a:p>
          <a:p>
            <a:pPr algn="ctr">
              <a:defRPr sz="5000" b="1">
                <a:solidFill>
                  <a:srgbClr val="FFFFFF"/>
                </a:solidFill>
              </a:defRPr>
            </a:pPr>
            <a:r>
              <a:t>Roteiro de Implantação e Conclusão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DAA520"/>
                </a:solidFill>
              </a:defRPr>
            </a:pPr>
            <a:r>
              <a:t>Os Passos Seguros para a Execução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O Modelo Econômico para a CMB e a União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Receitas para a CMB via licenças de conformidade, emissão de chaves e taxas de transação no registro.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Modelo escalável: a receita cresce conforme a adoção, sem inchar o tamanho da empresa.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Para o Tesouro: Cada R$ 1 investido no Controle Logístico Nacional retorna múltiplos na recuperação de evasão fiscal.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Controle Logístico Nacional é um projeto de alta viabilidade financeira e rápido 'Payback'.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Roteiro: Fase 1 (Mandato do Ouro) e Fase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Fase 1 (Hoje): Aprovação final do PL 3.025/2023 no Senado, ancorando juridicamente o modelo na CMB.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Fase 2 (Curto Prazo): Criação de Grupo de Trabalho Interministerial (Fazenda, MGI, Transportes, Portos).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Definição da Especificação Técnica Nacional (aberta, auditável, de altíssima segurança).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Garantia de que a infraestrutura (antenas, leitores) seja orçada no PAC e PNL.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Roteiro: Fase 3 (Pilotos) e Fase 4 (Escala)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Fase 3 (Médio Prazo): Testes laboratoriais e operacionais independentes em corredores de alto volume.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Validação do 'Canal Verde', medindo a redução de tempo e de fraudes.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Fase 4: Expansão Nacional com integração ao DT-e (Documento Eletrônico de Transporte).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Adoção acelerada através de incentivos fiscais e liberação aduaneira ultra-rápida.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Respondendo às Objeções Comuns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OBJEÇÃO: 'A estatal não tem agilidade.' RESPOSTA: A execução industrial (fábricas de lacres) é privada; a CMB provê as regras e as chaves da confiança.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OBJEÇÃO: 'É reserva de mercado.' RESPOSTA: É o oposto; quebra oligopólios de empresas estrangeiras. Qualquer empresa que atenda aos padrões competirá.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OBJEÇÃO: 'Sistemas são caros.' RESPOSTA: O Quênia zerou custos abusivos (US$ 1.200/viagem) centralizando no Estado, baixando os fretes drasticamente.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A Recomendação Oficial ao Governo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Aprovar a Casa da Moeda do Brasil como a Âncora Institucional para a certificação do Controle Logístico Nacional.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Orientar o BNDES e a Finep a estruturarem o ecossistema de produção (Ceitec e desenvolvedores locais).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Tratar o projeto como Política Industrial e de Soberania (Nova Indústria Brasil), não apenas tecnologia aduaneira.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Iniciar imediatamente os trabalhos preparatórios para regulamentar a Lei do Ouro.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Um Brasil que pretende liderar o mundo, reindustrializar a economia e integrar o continente não pode ser cego sobre o que circula em suas fronteiras.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Controle Logístico Nacional combate R$ 500 bilhões de evasão, reduz o Custo Brasil e fomenta a indústria hi-tech.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A Casa da Moeda do Brasil é o instrumento do Estado para garantir que a confiança no trânsito de nossas riquezas tenha passaporte brasileiro.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O futuro não se imprime em papel; se escreve em confiança criptográfica.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