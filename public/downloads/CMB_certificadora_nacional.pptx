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AO GRUPO DE TRANSIÇÃO DE GOVERNO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da Moeda:</a:t>
            </a:r>
            <a:endParaRPr lang="en-US" sz="47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Certificadora Nacional do Brasil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758952" y="39319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D9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a estatal da confiança em uma grande certificadora de produtos, cargas e identidades — seguindo os modelos que já deram certo no mundo.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8952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pesquisa comparativa em 20 países e 40 operadores de certificação  ·  Julho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país precisa de alguém que diga: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"isto é autêntico"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é a infraestrutura invisível da economia: é o que garante que o produto é original, que a carga chegou intacta, que o documento é verdadeiro e que o ouro tem origem legal.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E9F0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9476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43891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e marcação de bebidas, cigarros, combustíveis, medicamentos e ouro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352044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5EED6"/>
          </a:solidFill>
          <a:ln/>
        </p:spPr>
      </p:sp>
      <p:sp>
        <p:nvSpPr>
          <p:cNvPr id="9" name="Text 7"/>
          <p:cNvSpPr/>
          <p:nvPr/>
        </p:nvSpPr>
        <p:spPr>
          <a:xfrm>
            <a:off x="3401568" y="379476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0168" y="43891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Lacres eletrônicos e rastreio de contêineres e caminhões, porta a porta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352044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E9F0EC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379476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Exportações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83096" y="43891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digital de produto exigida pelos grandes mercados compradores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07424" y="352044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5EED6"/>
          </a:solidFill>
          <a:ln/>
        </p:spPr>
      </p:sp>
      <p:sp>
        <p:nvSpPr>
          <p:cNvPr id="15" name="Text 13"/>
          <p:cNvSpPr/>
          <p:nvPr/>
        </p:nvSpPr>
        <p:spPr>
          <a:xfrm>
            <a:off x="9107424" y="379476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36024" y="438912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eletrônicos e certificados digitais de empresas e órgãos públicos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proposta: a Casa da Moeda como a âncora nacional dessas quatro frentes — definindo o padrão, emitindo as identidades e licenciando a marca de confiança.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PANORAMA MUNDIAL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Certificação é função de Estado —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melhores modelos são estatais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24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ESTATAIS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14600" y="26060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 (Bundesdruckerei) · Coreia do Sul (KOMSCO) · França (IN Groupe) · Filipinas (APO) · Polônia (PWPW) · Austrália (NPA/Banco Central) · Emirados (Oumolat/BC) · Japão (National Printing Bureau)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959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454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023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39044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 (emissores públicos + operador contratado) · China–Hong Kong (aduanas acreditam, mercado fornece) · União Eurasiática (tratado + operadores nacionais) · Quênia (autoridade tributária + fornecedor com cláusula de reversão)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29437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321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5202936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Suíça (SICPA) · Reino Unido e Canadá (De La Rue, CBN) · EUA (mercado descentralizado) · Rússia (PPP majoritariamente privada) — modelo em consolidação por fundos de investimento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países de referência, quem certifica em nome do Estado é uma empresa pública — geralmente a própria casa da moeda ou gráfica de segurança nacional.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ALEMANHA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Bundesdruckerei: a gráfica que virou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federal de tecnologia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impressora do Estado alemão (fundada em 1879) expandiu-se de cédulas e selos para identidades digitais, certificados e cibersegurança — sob a bandeira da soberania digital.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€ 1,11 bi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em 2024, com lucro crescente ano após ano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 já vem de certificação digital, identidade e tecnologia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 do lucro em quatro anos de diversificação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a mesma base industrial que imprime dinheiro é a plataforma perfeita para certificar o mundo digital — identidade, documentos e sistemas do governo.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COREIA DO SUL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KOMSCO: a casa da moeda que virou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nacional de confiança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da moeda coreana diversificou com decisão: identidade móvel nacional, primeira plataforma blockchain do setor público, certificação de ouro e marca-d’água de 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crescimento em 2025 — receita recorde de ₩ 639,5 bilhões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 vem de negócios além da moeda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avaliação nacional de empresas públicas em 2025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quem detém a legitimidade de "guardião da autenticidade" pode convertê-la em serviços digitais de alto valor — e exportar tecnologia para dezenas de países.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FRANÇA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Groupe: a estatal que virou líder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de identidade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Imprimerie Nationale refundou-se em torno da segurança e, em 2025, adquiriu a divisão de identidade digital da IDEMIA (~€ 1 bilhão) — criando um campeão nacional de tecnologia.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quase triplicado desde a refundação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margem líquida em 2024 — estatal altamente rentável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resultados vêm de contratos internacionais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o Estado pode usar sua estatal de confiança para consolidar capacidade estratégica — inclusive comprando tecnologia de ponta quando faz sentido.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FILIPINAS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APO: a gráfica estatal que se sustenta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selo fiscal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gráfica oficial filipina opera o sistema de selos fiscais ponta a ponta para a Receita local desde 2014 — do pedido à verificação por aplicativo — remunerada por taxa por selo.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 bi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selos produzidos e rastreados desde 2014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US$ 1,3 bi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de arrecadação associada ao sistema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lucro devolvido ao Tesouro — sem usar um centavo do orçamento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o desenho institucional é idêntico ao brasileiro (gráfica estatal + Receita Federal). O modelo se paga, financia o Estado e segue em expansão.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SINGAPURA E ESTÔNIA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Países pequenos, execução estatal,</a:t>
            </a:r>
            <a:endParaRPr lang="en-US" sz="37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mundial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 opera o Singpass/CorpPass (identidade digital de pessoas e empresas, via agência estatal GovTech) e exporta plataformas de certificados de origem eletrônicos. A Estônia construiu a identidade digital de Estado mais admirada do mundo.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app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Singpass: toda a identidade digital do país em uma credencial estatal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 exporta tecnologia de certificados de origem para câmaras do mundo todo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606040"/>
            <a:ext cx="3538728" cy="2240280"/>
          </a:xfrm>
          <a:prstGeom prst="roundRect">
            <a:avLst>
              <a:gd name="adj" fmla="val 4898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88036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30768" y="38404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então a Estônia assina tudo digitalmente com eID estatal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7667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não é preciso ser potência para liderar — é preciso uma âncora pública clara, padrão único e execução consistente.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INTERNACIONAIS · CERTIFICAÇÃO DE CARGAS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desenhos que funcionam — e se copiam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402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China–Hong Kong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" y="2743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70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aduanas acreditam o lacre e o GPS; qualquer fornecedor participa; adesão voluntária.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de fronteira: de 2 horas para minutos. 93 pontos, mais de mil rotas.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1688" y="201168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África Oriental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617720" y="2743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770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tributárias de 4 países operam plataforma única com lacres e monitoramento 24×7.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Trânsito Mombaça–Kampala: de 6 dias para 1,5 dia. Gratuito ao transportador.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74736" y="201168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2402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Eurasiática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430768" y="2743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770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30768" y="3291840"/>
            <a:ext cx="3026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fixou requisitos uniformes de lacre e designou um operador nacional por país.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30768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mútuo entre 5 países, implantado em fases desde 2023.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em comum: o poder público define o padrão e acredita o dispositivo; o mercado fornece em regime aberto e multifornecedor.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PAÍSES INVESTEM NISSO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Certificação paga a conta — e sobra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+US$ 133 mi/ano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arrecadação extra com o selo digital de cigarros na Califórnia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636008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tributária no Quênia após o rastreio eletrônico de cargas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−76%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49056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desvio de carga no corredor da África Oriental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 de inspeção de fronteira com lacres eletrônicos (Univ. de Washington)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1688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US$ 4,4 mi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4636008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custo total do sistema regional africano — 3 países, 12.707 km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74736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US$ 2,5 bi/ano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449056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mercado mundial de selos fiscais e rastreio, crescendo 8,7% ao ano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COMPROVADA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já operou uma das maiores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plataformas de certificação do mundo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38728" cy="2468880"/>
          </a:xfrm>
          <a:prstGeom prst="roundRect">
            <a:avLst>
              <a:gd name="adj" fmla="val 4444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R$ 1,65 bi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anual da Casa da Moeda com certificação e rastreio em 2016 — na escala das líderes mundiais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1688" y="2743200"/>
            <a:ext cx="3538728" cy="2468880"/>
          </a:xfrm>
          <a:prstGeom prst="roundRect">
            <a:avLst>
              <a:gd name="adj" fmla="val 4444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1688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real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36008" y="38862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Sicobe contava, em linha, toda a produção de bebidas do país; o Scorpios rastreia cigarros até hoje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74736" y="2743200"/>
            <a:ext cx="3538728" cy="2468880"/>
          </a:xfrm>
          <a:prstGeom prst="roundRect">
            <a:avLst>
              <a:gd name="adj" fmla="val 4444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milhões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49056" y="388620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selos de conformidade do Inmetro produzidos e vendidos pela CMB só em 2025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não é um plano para aprender algo novo. É um plano para retomar e ampliar uma liderança que o Brasil já exerceu.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INSTALADA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Certificadora Nacional já existe em partes.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reunir.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6974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Monopólios de confiança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32004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Cédulas, moedas, passaporte e selos fiscais — a CMB já é, por lei, a fábrica da autenticidade do Estado.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251460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974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e plataforma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32004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de segurança, personalização criptográfica e plataforma própria de autenticidade e rastreamento.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74736" y="251460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26974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nacional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30768" y="320040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Ceitec reativada por decreto (2023), com R$ 220 milhões do FNDCT — tags RFID fabricadas no Brasil.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6634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jurídico pronto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04672" y="516636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Eletrônico da ICP-Brasil (ITI, 2024) e o padrão Brasil-ID (Convênio ICMS 12/2013) já aprovados.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44805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E9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6634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declarada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17720" y="516636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2025–2029 da CMB: missão de confiança, autenticidade e rastreabilidade, com área dedicada de inovação.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74736" y="4480560"/>
            <a:ext cx="3538728" cy="1783080"/>
          </a:xfrm>
          <a:prstGeom prst="roundRect">
            <a:avLst>
              <a:gd name="adj" fmla="val 5128"/>
            </a:avLst>
          </a:prstGeom>
          <a:solidFill>
            <a:srgbClr val="F5EED6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46634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regional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30768" y="5166360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ativa com a Casa de Moneda argentina e adesão do Brasil ao World Logistics Passport.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MANDATO JÁ ESTÁ EM VOTAÇÃO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Ouro: a Câmara já escolheu a Casa da Moeda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 3.025/2023, aprovado na Câmara em abril de 2026 e agora no Senado, cria o sistema nacional de rastreabilidade do ouro: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560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578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5511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física e digital de todo o ouro, com certificação operada exclusivamente pela Casa da Moeda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4360" y="3337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55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3284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 eletrônica obrigatória e Guia de Transporte e Custódia — fim do papel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133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1056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venda apenas a instituições autorizadas pelo Banco Central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4892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8828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previstas na própria lei para custear o sistema — receita estável e permanente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5EED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9161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ouro é o projeto-piloto perfeito: mandato em lei, receita em lei, e a prova de que o Congresso já enxerga a CMB como a certificadora nacional.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vai exigir certificação —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 América Latina está vaga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global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2027, a União Europeia exigirá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passaporte digital de produto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começando por baterias e chegando a têxteis, metais e eletrônicos. Todo exportador brasileiro precisará de identidade digital certificada. Alguém vai emiti-la.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25146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espaço regional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32918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África Oriental e Eurásia já têm sistemas regionais de certificação de cargas.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América Latina não tem nenhum.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os corredores bioceânicos e o novo porto de Chancay, o Brasil pode ser a âncora de confiança do continente — via Mercosul.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CMB Certificadora Nacional: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público, mercado aberto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38728" cy="3566160"/>
          </a:xfrm>
          <a:prstGeom prst="roundRect">
            <a:avLst>
              <a:gd name="adj" fmla="val 3101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7249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 da Moeda faz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3566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padrão técnico e a marca nacional de conformidade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e registra as identidades seguras (produtos, lacres, cargas)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Personaliza, audita, revoga e mantém a consulta pública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514600"/>
            <a:ext cx="3538728" cy="356616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7249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faz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566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lacres, etiquetas e leitores — qualquer empresa, nacional ou estrangeira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por preço e inovação dentro do padrão único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 certificação aos seus sistemas e serviços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514600"/>
            <a:ext cx="3538728" cy="3566160"/>
          </a:xfrm>
          <a:prstGeom prst="roundRect">
            <a:avLst>
              <a:gd name="adj" fmla="val 310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27249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órgãos mantêm seus papéis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30768" y="35661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Inmetro acredita laboratórios; Anatel homologa equipamentos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responde pela certificação digital ICP-Brasil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Receita, ANTT, ANM e portos definem as regras de cada setor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perde competência. O país ganha um padrão.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GANHOS PARA O PAÍS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dividendos de uma decisão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Arrecadação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e rastreio elevam a receita sem criar imposto: +US$ 133 mi/ano na Califórnia, +18% no Quênia. No Brasil, o potencial é bilionário.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651052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competitiva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10528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inspeção repetida, menos fila, menos perda: fronteiras que liberam em minutos e corredores monitorados de ponta a ponta.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Exportações protegidas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digital de produto para atender a Europa desde o primeiro dia — vantagem competitiva para o agro e a indústria.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nacional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da Ceitec, etiquetas, leitores e software brasileiros puxados por uma demanda âncora — política industrial com mercado garantido.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INSTITUIR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plano em cinco movimentos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57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121408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Sancionar e operar o ouro  —  </a:t>
            </a:r>
            <a:pPr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PL 3.025 no Senado e estruturar a operação na CMB — o primeiro mandato, com receita própria em lei.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378440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10378440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5409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Instituir o esquema nacional  —  </a:t>
            </a:r>
            <a:pPr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trabalho + acordos com Inmetro, ITI, Anatel e Receita + especificação técnica pública e aberta.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378440" y="313639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378440" y="31638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5020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3913632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em campo  —  </a:t>
            </a:r>
            <a:pPr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lacres e rastreio com vários fornecedores, num corredor real, com metas medidas de forma independente.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0378440" y="403250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40599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4809744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por setor  —  </a:t>
            </a:r>
            <a:pPr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bebidas, combustíveis, medicamentos e cargas — cada setor por ato do seu regulador.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378440" y="492861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378440" y="4956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7424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463040" y="5705856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a região  —  </a:t>
            </a:r>
            <a:pPr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padrão ao Mercosul e aos corredores bioceânicos, no modelo do tratado eurasiático.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378440" y="582472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58521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TELA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Casa da Moeda?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padrão mundial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281635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Alemanha, Coreia, França, Filipinas, Japão, Austrália: quem certifica em nome do Estado é a estatal de segurança — com lucro e nota máxima de gestão.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que a CMB já faz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10528" y="281635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fiscais, passaportes, rastreio do Scorpios, 19 milhões de selos do Inmetro em 2025 — e uma escala já demonstrada de R$ 1,65 bi/ano.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que a lei já aponta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48" y="496519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Câmara aprovou a certificação exclusiva do ouro pela CMB; o Selo Eletrônico ICP-Brasil e o Brasil-ID completam o arcabouço.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momento certo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0528" y="4965192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Exigências europeias a partir de 2027, vazio regional na América Latina e cadeia nacional (Ceitec, integradores) pronta para ser ativada.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confia em quem certifica.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já tem a sua certificadora.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58952" y="40690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D9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Instituir a Casa da Moeda como Certificadora Nacional é seguir o caminho comprovado da Alemanha, da Coreia e da França — com ativos que o Brasil já possui, um mandato que o Congresso já iniciou e uma região inteira esperando por um padrão.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5532120"/>
            <a:ext cx="6766560" cy="6858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56418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instituir o grupo de trabalho da Certificadora Nacional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2026-07-17T20:30:36Z</dcterms:created>
  <dcterms:modified xsi:type="dcterms:W3CDTF">2026-07-17T20:30:36Z</dcterms:modified>
</cp:coreProperties>
</file>